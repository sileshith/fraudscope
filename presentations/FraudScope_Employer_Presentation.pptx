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52a826d9ad42e9" /><Relationship Type="http://schemas.openxmlformats.org/officeDocument/2006/relationships/extended-properties" Target="/docProps/app.xml" Id="Ra642085e7e294d20" /><Relationship Type="http://schemas.openxmlformats.org/officeDocument/2006/relationships/officeDocument" Target="/ppt/presentation.xml" Id="Re9aa9f0e9f7d48ff" /></Relationships>
</file>

<file path=ppt/presentation.xml><?xml version="1.0" encoding="utf-8"?>
<p:presentation xmlns:p="http://schemas.openxmlformats.org/presentationml/2006/main">
  <p:sldMasterIdLst>
    <p:sldMasterId xmlns:r="http://schemas.openxmlformats.org/officeDocument/2006/relationships" id="2147483648" r:id="R4aff81803b5f488c"/>
  </p:sldMasterIdLst>
  <p:notesMasterIdLst>
    <p:notesMasterId xmlns:r="http://schemas.openxmlformats.org/officeDocument/2006/relationships" r:id="Rcee4bcbc237e4e9a"/>
  </p:notesMasterIdLst>
  <p:sldIdLst>
    <p:sldId xmlns:r="http://schemas.openxmlformats.org/officeDocument/2006/relationships" id="256" r:id="R7dab853719734859"/>
    <p:sldId xmlns:r="http://schemas.openxmlformats.org/officeDocument/2006/relationships" id="257" r:id="R59968d8591614fe7"/>
    <p:sldId xmlns:r="http://schemas.openxmlformats.org/officeDocument/2006/relationships" id="258" r:id="R8604fc0951a740b3"/>
    <p:sldId xmlns:r="http://schemas.openxmlformats.org/officeDocument/2006/relationships" id="259" r:id="R97dc1f0d3e114a99"/>
    <p:sldId xmlns:r="http://schemas.openxmlformats.org/officeDocument/2006/relationships" id="260" r:id="Rf762b723c23c4119"/>
    <p:sldId xmlns:r="http://schemas.openxmlformats.org/officeDocument/2006/relationships" id="261" r:id="R658759106cd64712"/>
    <p:sldId xmlns:r="http://schemas.openxmlformats.org/officeDocument/2006/relationships" id="262" r:id="Rebed4c4a25f84c22"/>
    <p:sldId xmlns:r="http://schemas.openxmlformats.org/officeDocument/2006/relationships" id="263" r:id="Rccc1c5bfc02d45e8"/>
    <p:sldId xmlns:r="http://schemas.openxmlformats.org/officeDocument/2006/relationships" id="264" r:id="Rdf524d5292cf48d7"/>
    <p:sldId xmlns:r="http://schemas.openxmlformats.org/officeDocument/2006/relationships" id="265" r:id="R0a6632158e694892"/>
    <p:sldId xmlns:r="http://schemas.openxmlformats.org/officeDocument/2006/relationships" id="266" r:id="R4fa3d10faabd4db0"/>
    <p:sldId xmlns:r="http://schemas.openxmlformats.org/officeDocument/2006/relationships" id="267" r:id="Ref4cc3e4557441f4"/>
    <p:sldId xmlns:r="http://schemas.openxmlformats.org/officeDocument/2006/relationships" id="268" r:id="Rb9133f625f684b6d"/>
    <p:sldId xmlns:r="http://schemas.openxmlformats.org/officeDocument/2006/relationships" id="269" r:id="R17492f1509c94eaa"/>
    <p:sldId xmlns:r="http://schemas.openxmlformats.org/officeDocument/2006/relationships" id="270" r:id="Rf0c42821c5e24624"/>
    <p:sldId xmlns:r="http://schemas.openxmlformats.org/officeDocument/2006/relationships" id="271" r:id="R348a6af4c17848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a8b37d94ab41de" /><Relationship Type="http://schemas.openxmlformats.org/officeDocument/2006/relationships/slideMaster" Target="/ppt/slideMasters/slideMaster1.xml" Id="R4aff81803b5f488c" /><Relationship Type="http://schemas.openxmlformats.org/officeDocument/2006/relationships/notesMaster" Target="/ppt/notesMasters/notesMaster1.xml" Id="Rcee4bcbc237e4e9a" /><Relationship Type="http://schemas.openxmlformats.org/officeDocument/2006/relationships/presProps" Target="/ppt/presProps.xml" Id="R5ebdf50c5fb6496a" /><Relationship Type="http://schemas.openxmlformats.org/officeDocument/2006/relationships/tableStyles" Target="/ppt/tableStyles.xml" Id="R3093adc314584c52" /><Relationship Type="http://schemas.openxmlformats.org/officeDocument/2006/relationships/slide" Target="/ppt/slides/slide1.xml" Id="R7dab853719734859" /><Relationship Type="http://schemas.openxmlformats.org/officeDocument/2006/relationships/slide" Target="/ppt/slides/slide2.xml" Id="R59968d8591614fe7" /><Relationship Type="http://schemas.openxmlformats.org/officeDocument/2006/relationships/slide" Target="/ppt/slides/slide3.xml" Id="R8604fc0951a740b3" /><Relationship Type="http://schemas.openxmlformats.org/officeDocument/2006/relationships/slide" Target="/ppt/slides/slide4.xml" Id="R97dc1f0d3e114a99" /><Relationship Type="http://schemas.openxmlformats.org/officeDocument/2006/relationships/slide" Target="/ppt/slides/slide5.xml" Id="Rf762b723c23c4119" /><Relationship Type="http://schemas.openxmlformats.org/officeDocument/2006/relationships/slide" Target="/ppt/slides/slide6.xml" Id="R658759106cd64712" /><Relationship Type="http://schemas.openxmlformats.org/officeDocument/2006/relationships/slide" Target="/ppt/slides/slide7.xml" Id="Rebed4c4a25f84c22" /><Relationship Type="http://schemas.openxmlformats.org/officeDocument/2006/relationships/slide" Target="/ppt/slides/slide8.xml" Id="Rccc1c5bfc02d45e8" /><Relationship Type="http://schemas.openxmlformats.org/officeDocument/2006/relationships/slide" Target="/ppt/slides/slide9.xml" Id="Rdf524d5292cf48d7" /><Relationship Type="http://schemas.openxmlformats.org/officeDocument/2006/relationships/slide" Target="/ppt/slides/slide10.xml" Id="R0a6632158e694892" /><Relationship Type="http://schemas.openxmlformats.org/officeDocument/2006/relationships/slide" Target="/ppt/slides/slide11.xml" Id="R4fa3d10faabd4db0" /><Relationship Type="http://schemas.openxmlformats.org/officeDocument/2006/relationships/slide" Target="/ppt/slides/slide12.xml" Id="Ref4cc3e4557441f4" /><Relationship Type="http://schemas.openxmlformats.org/officeDocument/2006/relationships/slide" Target="/ppt/slides/slide13.xml" Id="Rb9133f625f684b6d" /><Relationship Type="http://schemas.openxmlformats.org/officeDocument/2006/relationships/slide" Target="/ppt/slides/slide14.xml" Id="R17492f1509c94eaa" /><Relationship Type="http://schemas.openxmlformats.org/officeDocument/2006/relationships/slide" Target="/ppt/slides/slide15.xml" Id="Rf0c42821c5e24624" /><Relationship Type="http://schemas.openxmlformats.org/officeDocument/2006/relationships/slide" Target="/ppt/slides/slide16.xml" Id="R348a6af4c17848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af6a66f04442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97058915cb484f" /><Relationship Type="http://schemas.openxmlformats.org/officeDocument/2006/relationships/notesMaster" Target="/ppt/notesMasters/notesMaster1.xml" Id="Ra4e9129480e340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f152aac39d4726" /><Relationship Type="http://schemas.openxmlformats.org/officeDocument/2006/relationships/notesMaster" Target="/ppt/notesMasters/notesMaster1.xml" Id="R74499e1dc1f84d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95dc8c12e14364" /><Relationship Type="http://schemas.openxmlformats.org/officeDocument/2006/relationships/notesMaster" Target="/ppt/notesMasters/notesMaster1.xml" Id="Rfe1842a2238c47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7bbac1b2de4ee9" /><Relationship Type="http://schemas.openxmlformats.org/officeDocument/2006/relationships/notesMaster" Target="/ppt/notesMasters/notesMaster1.xml" Id="R033ae966f4f648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c158b009d54d0e" /><Relationship Type="http://schemas.openxmlformats.org/officeDocument/2006/relationships/notesMaster" Target="/ppt/notesMasters/notesMaster1.xml" Id="Rc3d2cbcbd35d4c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efa19ad6324e3a" /><Relationship Type="http://schemas.openxmlformats.org/officeDocument/2006/relationships/notesMaster" Target="/ppt/notesMasters/notesMaster1.xml" Id="Rc2a58b1eba1a4b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0002eff264456a" /><Relationship Type="http://schemas.openxmlformats.org/officeDocument/2006/relationships/notesMaster" Target="/ppt/notesMasters/notesMaster1.xml" Id="R89bdacab62e443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adab18a63944ac" /><Relationship Type="http://schemas.openxmlformats.org/officeDocument/2006/relationships/notesMaster" Target="/ppt/notesMasters/notesMaster1.xml" Id="Re05d8a14d6b64d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348aa2233d4219" /><Relationship Type="http://schemas.openxmlformats.org/officeDocument/2006/relationships/notesMaster" Target="/ppt/notesMasters/notesMaster1.xml" Id="R51a392f0acd449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e7d82ee25c433f" /><Relationship Type="http://schemas.openxmlformats.org/officeDocument/2006/relationships/notesMaster" Target="/ppt/notesMasters/notesMaster1.xml" Id="R265aac82b85c48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30f130a0fc4fcc" /><Relationship Type="http://schemas.openxmlformats.org/officeDocument/2006/relationships/notesMaster" Target="/ppt/notesMasters/notesMaster1.xml" Id="R52d77875c49c42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c89368675c402f" /><Relationship Type="http://schemas.openxmlformats.org/officeDocument/2006/relationships/notesMaster" Target="/ppt/notesMasters/notesMaster1.xml" Id="Rcc62377f920e48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62e15de3a949e1" /><Relationship Type="http://schemas.openxmlformats.org/officeDocument/2006/relationships/notesMaster" Target="/ppt/notesMasters/notesMaster1.xml" Id="R77f92c5b4b2645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147fa23f0c409b" /><Relationship Type="http://schemas.openxmlformats.org/officeDocument/2006/relationships/notesMaster" Target="/ppt/notesMasters/notesMaster1.xml" Id="R25e9263cc7da42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0f7b52105f4249" /><Relationship Type="http://schemas.openxmlformats.org/officeDocument/2006/relationships/notesMaster" Target="/ppt/notesMasters/notesMaster1.xml" Id="R7109ba8441f642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87d57aa7b543db" /><Relationship Type="http://schemas.openxmlformats.org/officeDocument/2006/relationships/notesMaster" Target="/ppt/notesMasters/notesMaster1.xml" Id="R7c5156be8c4643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FraudScope studies how a fraud team can prioritize cases under limited review capacity while maintaining reproducible model evidence and reliable application state. This is an AI-assisted portfolio reference. All performance results use synthetic data. Present only the parts you can independently explain and demonstrate. The existing deployment is private, so arrange an owner screen share before an interview. Do not imply real bank adoption, real customer savings or production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Explain the difference between a ranking metric and a decision policy. Recall at 5% sorts holdout scores and selects a fixed number of cases. The fixed threshold is selected on validation and can produce a different test review rate. Estimated loss and review costs are assumptions in the simulator. There is no observed business ROI. Source: docs/MODEL_CARD.md and the recorded experiment policy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Walk one transaction through the system. A validated event obtains strictly prior history, derives features, receives a calibrated active score and a GNN shadow score, then commits records and audit state atomically. The browser displays stored evidence and the analyst can save a revision-checked review. A risk score is not a confirmed fraud label. The GNN does not automatically block a transaction. Source: applications/workbench/lib/api.mjs, lib/inference.mjs and 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split uses elapsed time, so row counts need not match these percentages exactly. Labels become available after an assumed two-day delay. Preprocessing never fits on the final test. The historical risk teacher uses expanding past-only blocks and only matured labels. This protocol reduces leakage, but synthetic realism still limits external validity. Explain why a random transaction split could expose future entity behavior. Source: docs/GNN_RESEARCH_DESIGN.md, docs/DATA_CARD.md and reports/gnn/seed_42/protocol.json.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Be explicit about the graph rather than using heterogeneous GNN as a generic label. Transactions are nodes with relation-specific neighborhoods for shared account and device history. A device shared by many accounts can signal coordination but also legitimate households or shared terminals. Relations are proxies, not confirmed identity. The graph is a one-hop projection, not a full HGT with separate entity-node types and not the memory-based TGN architecture. Source: fraudscope graph modules and applications/workbench/lib/inference.mjs.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RGH-GNN uses supervised risk information to guide graph aggregation. FraudScope adapts that idea with past-only teacher predictions and a different implementation. BRIGHT motivates strict historical message flow and the serving tradeoff. The no-edge MLP still receives engineered historical behavior features, so it isolates message passing rather than all historical information. Sources: Hari et al., RGH-GNN, arXiv:2610.27107, submitted 19 October 2026, https://arxiv.org/abs/2610.27107. Lu et al., BRIGHT, CIKM 2022, https://arxiv.org/abs/2205.13084. Rossi et al., TGN, 2020, https://arxiv.org/abs/2006.10637. These are inspiration and comparison context, not claims of 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GraphSAGE mean is 53.95%, compared with 52.84% for the no-edge MLP. The absolute difference is 1.1114868 percentage points. These are descriptive results across three simulator populations. Do not claim statistical significance or real-world generalization. A ranking improvement can coexist with an unfavorable calibrated decision cost. Source: reports/gnn/multi_seed_summary.json. The editable chart contains the exact recorded means, with display rounding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Average precision measures ranking over recall levels using scikit-learn's step-weighted definition. It is not trapezoidal PR-AUC. The graph candidates and MLP are close in this experiment. More seeds, paired uncertainty estimates, another synthetic generator and real data would support a stronger comparison. Source: reports/gnn/multi_seed_summary.json. Round to four decimals on the slide and retain exact values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is the most important tradeoff to defend. The full research comparison selects the MLP for two seeds and gradient boosting for one. The original baseline deployment retains its seed-42 logistic model rather than silently promoting a later experimental candidate. The risk-gated GNN in the app illustrates shadow inference, not a validation winner. A promotion would require a declared business criterion, versioned release, replay parity and rollback validation. Source: reports/gnn/multi_seed_summary.json and applications/workbench/model-data/models.json.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study uses the validation-selected temporal attention graph model for every seed. It measures embedding drift, calibrated score drift and decision flips after 10% or 30% edge deletion or rewiring. The observed mean flip rates are 0.0677%, 0.1984%, 0.0899% and 0.2381%. These are synthetic stress results, not certified robustness bounds. Rewiring preserves past-only direction but may violate realistic entity relationships and the original relation windows. Source: reports/gnn/seed_42/structural_stress.json, seed_73 and seed_101. Tie this to your GNN stability interests without claiming a theorem. Recovery note, October 28, 2026: chart values were read from the original editable deck. Raw three-seed stress outputs remain unavailable. The source application includes seed-42 draws only. See reports/recovery/structural_chart.json. Chart values use 12 significant digits for portable Excel editing.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recovery checks passed 12 application tests, including the 80-case fixture and 48-event replay. Python passed 41 tests on Mac with one PyTorch module skipped. The historical 50-test result was not freshly rerun. The local reviewer tour passed 24 events and 25 audit records, using isolated SQLite and the same handler. It does not test the hosted identity gateway. Source: docs/RECOVERY_STATUS.md and applications/workbench/model-data/parity-report.json.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 3 minutes and rehearse the clicks beforehand. Start from a fresh demo workspace only if you have intentionally prepared it. The feed has a bounded cursor and repeated clicks add another batch rather than resetting history. Call out that analyst assessments are unverified labels. Run pnpm run review:verify locally if network or sign-in fails. Its expected report contains 24 events and 25 audit records. Do not imply this in-process tour tests a hosted browser or network performance. Source: docs/HIRING_MANAGER_REVIEW.md.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adapter supports authorized transaction and identity files, but schema fixtures do not establish benchmark performance. IEEE anonymized aggregates may have uncertain timing. Document those limitations rather than assuming a chronological split fixes every feature. Evaluate unseen entities separately if that is an intended use case. The current app demonstrates engineering behavior and synthetic research, while real deployment needs organization-specific controls and evidence. Source: docs/IEEE_BENCHMARK.md and docs/PRODUCTION_READINESS.md.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presentation in 45 seconds. State specific responsibilities you can actually demonstrate. Do not imply that AI-generated code or an unreviewed design is independent work. Describe how you validated, understood and modified the implementation during mastery. A credible answer can include a limitation and a concrete next experiment. Tie the next experiment to the employer's actual data and cost constraints when known. This deck makes no claim of job placement or business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the technical walkthrough. The bundled weights permit application verification without retraining or a GPU. Record the repository commit SHA when GitHub publication completes. If local changes exist, back them up or commit them before git pull --ff-only. Never recommend git reset --hard as a routine update. Dependency installation and an authenticated hosted browser session are separate checks. The current publication package includes a ready-to-run local verification tour.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source contains exact metric values, protocol files, executed notebooks and the model export provenance. RGH-GNN is a recent preprint and its implementation and split differ from FraudScope. BRIGHT and TGN provide historical context for causal serving and dynamic graph memory. FraudScope is a custom one-hop adaptation. Full URLs: https://arxiv.org/abs/2610.27107, https://arxiv.org/abs/2205.13084, https://arxiv.org/abs/2006.10637. IEEE-CIS official source: https://www.kaggle.com/competitions/ieee-fraud-detection/data. Review data terms before use. Do not compare this synthetic table with a paper's real-data score as if the protocols matched.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fc6f6f042b46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e22bd4c9ef43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6362a136a743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19d9401a464e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118ce2851242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dfe11372334c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F9CED0-8762-4B01-B072-E886F419B9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467031-D1AC-4875-88E2-939BC5EC788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CDFAEC-217A-4DF5-AAB0-4E076730CF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BA476F-8A19-40AE-A6F1-B12A28D6FC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E826D5-B4AF-4599-9B5A-4B45E2C4C5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424BAE-5241-4DDF-99D7-EEA0D382CD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D57DA9-E375-4CD6-9BC9-C9E7B867B9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AFA306-F506-429C-BDAF-639907159B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55DD02-C40B-4189-B17D-B15FE57DEE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DA850C-3768-433D-A17A-AEBD5B7444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0c7df9ec864272" /><Relationship Type="http://schemas.openxmlformats.org/officeDocument/2006/relationships/slideLayout" Target="/ppt/slideLayouts/slideLayout1.xml" Id="Rc7c79ae73db244ce" /><Relationship Type="http://schemas.openxmlformats.org/officeDocument/2006/relationships/slideLayout" Target="/ppt/slideLayouts/slideLayout2.xml" Id="Rb2f2848fd2674c2c" /><Relationship Type="http://schemas.openxmlformats.org/officeDocument/2006/relationships/slideLayout" Target="/ppt/slideLayouts/slideLayout3.xml" Id="Rf69438fb87874bff" /><Relationship Type="http://schemas.openxmlformats.org/officeDocument/2006/relationships/slideLayout" Target="/ppt/slideLayouts/slideLayout4.xml" Id="Rf1ce97655bd34049" /><Relationship Type="http://schemas.openxmlformats.org/officeDocument/2006/relationships/slideLayout" Target="/ppt/slideLayouts/slideLayout5.xml" Id="R54620625bd984a75" /><Relationship Type="http://schemas.openxmlformats.org/officeDocument/2006/relationships/slideLayout" Target="/ppt/slideLayouts/slideLayout6.xml" Id="R9985583bf10645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c79ae73db244ce"/>
    <p:sldLayoutId xmlns:r="http://schemas.openxmlformats.org/officeDocument/2006/relationships" id="2147483650" r:id="Rb2f2848fd2674c2c"/>
    <p:sldLayoutId xmlns:r="http://schemas.openxmlformats.org/officeDocument/2006/relationships" id="2147483651" r:id="Rf69438fb87874bff"/>
    <p:sldLayoutId xmlns:r="http://schemas.openxmlformats.org/officeDocument/2006/relationships" id="2147483652" r:id="Rf1ce97655bd34049"/>
    <p:sldLayoutId xmlns:r="http://schemas.openxmlformats.org/officeDocument/2006/relationships" id="2147483653" r:id="R54620625bd984a75"/>
    <p:sldLayoutId xmlns:r="http://schemas.openxmlformats.org/officeDocument/2006/relationships" id="2147483654" r:id="R9985583bf10645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b8cea4cec34cc1" /><Relationship Type="http://schemas.openxmlformats.org/officeDocument/2006/relationships/notesSlide" Target="/ppt/notesSlides/notesSlide1.xml" Id="R9e9b15e2b14a4b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82efb977534121" /><Relationship Type="http://schemas.openxmlformats.org/officeDocument/2006/relationships/notesSlide" Target="/ppt/notesSlides/notesSlide2.xml" Id="R49d90b2d503a48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ba94759b564322" /><Relationship Type="http://schemas.openxmlformats.org/officeDocument/2006/relationships/notesSlide" Target="/ppt/notesSlides/notesSlide3.xml" Id="R29a60c7939d0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13feff38974a9c" /><Relationship Type="http://schemas.openxmlformats.org/officeDocument/2006/relationships/notesSlide" Target="/ppt/notesSlides/notesSlide4.xml" Id="Rdc784a980e84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ddfb8dc9034f74" /><Relationship Type="http://schemas.openxmlformats.org/officeDocument/2006/relationships/notesSlide" Target="/ppt/notesSlides/notesSlide5.xml" Id="R0628e65d23444a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5c95c5f75d4ed4" /><Relationship Type="http://schemas.openxmlformats.org/officeDocument/2006/relationships/notesSlide" Target="/ppt/notesSlides/notesSlide6.xml" Id="Ref64df28d46242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60ee278e4541d5" /><Relationship Type="http://schemas.openxmlformats.org/officeDocument/2006/relationships/chart" Target="/ppt/slides/charts/chart1.xml" Id="Rb3cf8c0cbea24a07" /><Relationship Type="http://schemas.openxmlformats.org/officeDocument/2006/relationships/notesSlide" Target="/ppt/notesSlides/notesSlide7.xml" Id="R20af46466d8c49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34da865bf7c4408" /><Relationship Type="http://schemas.openxmlformats.org/officeDocument/2006/relationships/notesSlide" Target="/ppt/notesSlides/notesSlide8.xml" Id="R1c972a6fd1624d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ac280ace134bd0" /><Relationship Type="http://schemas.openxmlformats.org/officeDocument/2006/relationships/notesSlide" Target="/ppt/notesSlides/notesSlide9.xml" Id="Re53d7b4f03214c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b12a7278124f05" /><Relationship Type="http://schemas.openxmlformats.org/officeDocument/2006/relationships/chart" Target="/ppt/slides/charts/chart2.xml" Id="R7687e0f8bc154e72" /><Relationship Type="http://schemas.openxmlformats.org/officeDocument/2006/relationships/notesSlide" Target="/ppt/notesSlides/notesSlide10.xml" Id="R9f499afbcaaa49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b877a6c1f694c1e" /><Relationship Type="http://schemas.openxmlformats.org/officeDocument/2006/relationships/notesSlide" Target="/ppt/notesSlides/notesSlide11.xml" Id="Re03c6b0587f44b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308bfb06cd4a05" /><Relationship Type="http://schemas.openxmlformats.org/officeDocument/2006/relationships/notesSlide" Target="/ppt/notesSlides/notesSlide12.xml" Id="R4c5d488b447549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07b1319bc14882" /><Relationship Type="http://schemas.openxmlformats.org/officeDocument/2006/relationships/notesSlide" Target="/ppt/notesSlides/notesSlide13.xml" Id="Rf02bcc13de104b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aef4c523ec488e" /><Relationship Type="http://schemas.openxmlformats.org/officeDocument/2006/relationships/notesSlide" Target="/ppt/notesSlides/notesSlide14.xml" Id="Rf689d7de10fa43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3f35b454b374584" /><Relationship Type="http://schemas.openxmlformats.org/officeDocument/2006/relationships/notesSlide" Target="/ppt/notesSlides/notesSlide15.xml" Id="Rb699c578225d4b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b08ca8e6a564984" /><Relationship Type="http://schemas.openxmlformats.org/officeDocument/2006/relationships/notesSlide" Target="/ppt/notesSlides/notesSlide16.xml" Id="Rceee533c5ed0484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02C32"/>
                </a:solidFill>
                <a:latin typeface="Arial"/>
                <a:ea typeface="Arial"/>
                <a:cs typeface="Arial"/>
              </a:rPr>
              <a:t>Mean fraud recall within the highest-scored 5% of transactions</a:t>
            </a:r>
          </a:p>
        </c:rich>
      </c:tx>
      <c:overlay val="0"/>
      <c:txPr>
        <a:bodyPr xmlns:a="http://schemas.openxmlformats.org/drawingml/2006/main" anchorCtr="1"/>
        <a:lstStyle xmlns:a="http://schemas.openxmlformats.org/drawingml/2006/main"/>
        <a:p xmlns:a="http://schemas.openxmlformats.org/drawingml/2006/main">
          <a:pPr>
            <a:defRPr sz="1500">
              <a:solidFill>
                <a:srgbClr val="102C32"/>
              </a:solidFill>
              <a:latin typeface="Arial"/>
              <a:ea typeface="Arial"/>
              <a:cs typeface="Arial"/>
            </a:defRPr>
          </a:pPr>
        </a:p>
      </c:txPr>
    </c:title>
    <c:plotArea>
      <c:barChart>
        <c:barDir val="bar"/>
        <c:varyColors val="0"/>
        <c:ser>
          <c:idx val="0"/>
          <c:order val="0"/>
          <c:tx>
            <c:v>Synthetic mean</c:v>
          </c:tx>
          <c:spPr>
            <a:solidFill xmlns:a="http://schemas.openxmlformats.org/drawingml/2006/main">
              <a:srgbClr val="007F77"/>
            </a:solidFill>
          </c:spPr>
          <c:invertIfNegative val="0"/>
          <c:cat>
            <c:strRef>
              <c:f>'Chart Data'!$A$2:$A$8</c:f>
              <c:strCache>
                <c:ptCount val="7"/>
                <c:pt idx="0">
                  <c:v>Relational aggregation</c:v>
                </c:pt>
                <c:pt idx="1">
                  <c:v>Temporal attention</c:v>
                </c:pt>
                <c:pt idx="2">
                  <c:v>Risk-gated attention</c:v>
                </c:pt>
                <c:pt idx="3">
                  <c:v>No-edge MLP</c:v>
                </c:pt>
                <c:pt idx="4">
                  <c:v>Gradient boosting</c:v>
                </c:pt>
                <c:pt idx="5">
                  <c:v>Logistic regression</c:v>
                </c:pt>
                <c:pt idx="6">
                  <c:v>Isolation Forest</c:v>
                </c:pt>
              </c:strCache>
            </c:strRef>
          </c:cat>
          <c:val>
            <c:numRef>
              <c:f>'Chart Data'!$B$2:$B$8</c:f>
              <c:numCache>
                <c:formatCode>0.00%</c:formatCode>
                <c:ptCount val="7"/>
                <c:pt idx="0">
                  <c:v>0.539499293256</c:v>
                </c:pt>
                <c:pt idx="1">
                  <c:v>0.535384364364</c:v>
                </c:pt>
                <c:pt idx="2">
                  <c:v>0.534665287511</c:v>
                </c:pt>
                <c:pt idx="3">
                  <c:v>0.528384424933</c:v>
                </c:pt>
                <c:pt idx="4">
                  <c:v>0.506852889943</c:v>
                </c:pt>
                <c:pt idx="5">
                  <c:v>0.471257075542</c:v>
                </c:pt>
                <c:pt idx="6">
                  <c:v>0.344721990635</c:v>
                </c:pt>
              </c:numCache>
            </c:numRef>
          </c:val>
        </c:ser>
        <c:dLbls>
          <c:numFmt formatCode="0.00%" sourceLinked="0"/>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02C32"/>
                </a:solidFill>
                <a:latin typeface="Arial"/>
                <a:ea typeface="Arial"/>
                <a:cs typeface="Arial"/>
              </a:rPr>
              <a:t>Mean fraction of predictions that cross the frozen decision threshold</a:t>
            </a:r>
          </a:p>
        </c:rich>
      </c:tx>
      <c:overlay val="0"/>
      <c:txPr>
        <a:bodyPr xmlns:a="http://schemas.openxmlformats.org/drawingml/2006/main" anchorCtr="1"/>
        <a:lstStyle xmlns:a="http://schemas.openxmlformats.org/drawingml/2006/main"/>
        <a:p xmlns:a="http://schemas.openxmlformats.org/drawingml/2006/main">
          <a:pPr>
            <a:defRPr sz="1500">
              <a:solidFill>
                <a:srgbClr val="102C32"/>
              </a:solidFill>
              <a:latin typeface="Arial"/>
              <a:ea typeface="Arial"/>
              <a:cs typeface="Arial"/>
            </a:defRPr>
          </a:pPr>
        </a:p>
      </c:txPr>
    </c:title>
    <c:plotArea>
      <c:barChart>
        <c:barDir val="bar"/>
        <c:varyColors val="0"/>
        <c:ser>
          <c:idx val="0"/>
          <c:order val="0"/>
          <c:tx>
            <c:v>Synthetic mean</c:v>
          </c:tx>
          <c:spPr>
            <a:solidFill xmlns:a="http://schemas.openxmlformats.org/drawingml/2006/main">
              <a:srgbClr val="007F77"/>
            </a:solidFill>
          </c:spPr>
          <c:invertIfNegative val="0"/>
          <c:cat>
            <c:strRef>
              <c:f>'Chart Data'!$A$2:$A$5</c:f>
              <c:strCache>
                <c:ptCount val="4"/>
                <c:pt idx="0">
                  <c:v>Delete 10%</c:v>
                </c:pt>
                <c:pt idx="1">
                  <c:v>Delete 30%</c:v>
                </c:pt>
                <c:pt idx="2">
                  <c:v>Rewire 10%</c:v>
                </c:pt>
                <c:pt idx="3">
                  <c:v>Rewire 30%</c:v>
                </c:pt>
              </c:strCache>
            </c:strRef>
          </c:cat>
          <c:val>
            <c:numRef>
              <c:f>'Chart Data'!$B$2:$B$5</c:f>
              <c:numCache>
                <c:formatCode>0.00%</c:formatCode>
                <c:ptCount val="4"/>
                <c:pt idx="0">
                  <c:v>0.0006768688462</c:v>
                </c:pt>
                <c:pt idx="1">
                  <c:v>0.0019842652136</c:v>
                </c:pt>
                <c:pt idx="2">
                  <c:v>0.000898597914</c:v>
                </c:pt>
                <c:pt idx="3">
                  <c:v>0.0023809745722</c:v>
                </c:pt>
              </c:numCache>
            </c:numRef>
          </c:val>
        </c:ser>
        <c:dLbls>
          <c:numFmt formatCode="0.00%" sourceLinked="0"/>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E5A5A5-1BDA-467C-B9F1-2A2B8BD28C48}"/>
              </a:ext>
            </a:extLst>
          </p:cNvPr>
          <p:cNvSpPr>
            <a:spLocks xmlns:a="http://schemas.openxmlformats.org/drawingml/2006/main" noGrp="1"/>
          </p:cNvSpPr>
          <p:nvPr/>
        </p:nvSpPr>
        <p:spPr>
          <a:xfrm xmlns:a="http://schemas.openxmlformats.org/drawingml/2006/main">
            <a:off x="723900" y="1238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FraudScope</a:t>
            </a:r>
          </a:p>
        </p:txBody>
      </p:sp>
      <p:sp>
        <p:nvSpPr>
          <p:cNvPr id="2" name="subtitle">
            <a:extLst xmlns:a="http://schemas.openxmlformats.org/drawingml/2006/main">
              <a:ext uri="{FF2B5EF4-FFF2-40B4-BE49-F238E27FC236}">
                <a16:creationId xmlns:a16="http://schemas.microsoft.com/office/drawing/2014/main" id="{1D133EB8-04C2-49F6-8A04-1271101F1B57}"/>
              </a:ext>
            </a:extLst>
          </p:cNvPr>
          <p:cNvSpPr>
            <a:spLocks xmlns:a="http://schemas.openxmlformats.org/drawingml/2006/main" noGrp="1"/>
          </p:cNvSpPr>
          <p:nvPr/>
        </p:nvSpPr>
        <p:spPr>
          <a:xfrm xmlns:a="http://schemas.openxmlformats.org/drawingml/2006/main">
            <a:off x="762000" y="2476500"/>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a:solidFill>
                  <a:srgbClr val="9FE2D1"/>
                </a:solidFill>
                <a:latin typeface="Arial"/>
                <a:ea typeface="Arial"/>
                <a:cs typeface="Arial"/>
              </a:defRPr>
            </a:defPPr>
            <a:lvl1pPr algn="l">
              <a:defRPr sz="3150">
                <a:solidFill>
                  <a:srgbClr val="9FE2D1"/>
                </a:solidFill>
                <a:latin typeface="Arial"/>
                <a:ea typeface="Arial"/>
                <a:cs typeface="Arial"/>
              </a:defRPr>
            </a:lvl1pPr>
            <a:lvl2pPr algn="l">
              <a:defRPr sz="3150">
                <a:solidFill>
                  <a:srgbClr val="9FE2D1"/>
                </a:solidFill>
                <a:latin typeface="Arial"/>
                <a:ea typeface="Arial"/>
                <a:cs typeface="Arial"/>
              </a:defRPr>
            </a:lvl2pPr>
            <a:lvl3pPr algn="l">
              <a:defRPr sz="3150">
                <a:solidFill>
                  <a:srgbClr val="9FE2D1"/>
                </a:solidFill>
                <a:latin typeface="Arial"/>
                <a:ea typeface="Arial"/>
                <a:cs typeface="Arial"/>
              </a:defRPr>
            </a:lvl3pPr>
            <a:lvl4pPr algn="l">
              <a:defRPr sz="3150">
                <a:solidFill>
                  <a:srgbClr val="9FE2D1"/>
                </a:solidFill>
                <a:latin typeface="Arial"/>
                <a:ea typeface="Arial"/>
                <a:cs typeface="Arial"/>
              </a:defRPr>
            </a:lvl4pPr>
            <a:lvl5pPr algn="l">
              <a:defRPr sz="3150">
                <a:solidFill>
                  <a:srgbClr val="9FE2D1"/>
                </a:solidFill>
                <a:latin typeface="Arial"/>
                <a:ea typeface="Arial"/>
                <a:cs typeface="Arial"/>
              </a:defRPr>
            </a:lvl5pPr>
            <a:lvl6pPr algn="l">
              <a:defRPr sz="3150">
                <a:solidFill>
                  <a:srgbClr val="9FE2D1"/>
                </a:solidFill>
                <a:latin typeface="Arial"/>
                <a:ea typeface="Arial"/>
                <a:cs typeface="Arial"/>
              </a:defRPr>
            </a:lvl6pPr>
            <a:lvl7pPr algn="l">
              <a:defRPr sz="3150">
                <a:solidFill>
                  <a:srgbClr val="9FE2D1"/>
                </a:solidFill>
                <a:latin typeface="Arial"/>
                <a:ea typeface="Arial"/>
                <a:cs typeface="Arial"/>
              </a:defRPr>
            </a:lvl7pPr>
            <a:lvl8pPr algn="l">
              <a:defRPr sz="3150">
                <a:solidFill>
                  <a:srgbClr val="9FE2D1"/>
                </a:solidFill>
                <a:latin typeface="Arial"/>
                <a:ea typeface="Arial"/>
                <a:cs typeface="Arial"/>
              </a:defRPr>
            </a:lvl8pPr>
            <a:lvl9pPr algn="l">
              <a:defRPr sz="3150">
                <a:solidFill>
                  <a:srgbClr val="9FE2D1"/>
                </a:solidFill>
                <a:latin typeface="Arial"/>
                <a:ea typeface="Arial"/>
                <a:cs typeface="Arial"/>
              </a:defRPr>
            </a:lvl9pPr>
          </a:lstStyle>
          <a:p xmlns:a="http://schemas.openxmlformats.org/drawingml/2006/main">
            <a:pPr algn="l">
              <a:defRPr sz="3150">
                <a:solidFill>
                  <a:srgbClr val="9FE2D1"/>
                </a:solidFill>
                <a:latin typeface="Arial"/>
                <a:ea typeface="Arial"/>
                <a:cs typeface="Arial"/>
              </a:defRPr>
            </a:pPr>
            <a:r>
              <a:rPr sz="3150">
                <a:solidFill>
                  <a:srgbClr val="9FE2D1"/>
                </a:solidFill>
                <a:latin typeface="Arial"/>
                <a:ea typeface="Arial"/>
                <a:cs typeface="Arial"/>
              </a:rPr>
              <a:t>Fraud Detection with Temporal Graph Neural Networks</a:t>
            </a:r>
          </a:p>
        </p:txBody>
      </p:sp>
      <p:sp>
        <p:nvSpPr>
          <p:cNvPr id="3" name="author">
            <a:extLst xmlns:a="http://schemas.openxmlformats.org/drawingml/2006/main">
              <a:ext uri="{FF2B5EF4-FFF2-40B4-BE49-F238E27FC236}">
                <a16:creationId xmlns:a16="http://schemas.microsoft.com/office/drawing/2014/main" id="{8A47FD73-206A-49C5-A5FA-FBFB10A10DA0}"/>
              </a:ext>
            </a:extLst>
          </p:cNvPr>
          <p:cNvSpPr>
            <a:spLocks xmlns:a="http://schemas.openxmlformats.org/drawingml/2006/main" noGrp="1"/>
          </p:cNvSpPr>
          <p:nvPr/>
        </p:nvSpPr>
        <p:spPr>
          <a:xfrm xmlns:a="http://schemas.openxmlformats.org/drawingml/2006/main">
            <a:off x="762000" y="4191000"/>
            <a:ext cx="1000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a:solidFill>
                  <a:srgbClr val="FFFFFF"/>
                </a:solidFill>
                <a:latin typeface="Arial"/>
                <a:ea typeface="Arial"/>
                <a:cs typeface="Arial"/>
              </a:defRPr>
            </a:defPPr>
            <a:lvl1pPr algn="l">
              <a:defRPr sz="2025">
                <a:solidFill>
                  <a:srgbClr val="FFFFFF"/>
                </a:solidFill>
                <a:latin typeface="Arial"/>
                <a:ea typeface="Arial"/>
                <a:cs typeface="Arial"/>
              </a:defRPr>
            </a:lvl1pPr>
            <a:lvl2pPr algn="l">
              <a:defRPr sz="2025">
                <a:solidFill>
                  <a:srgbClr val="FFFFFF"/>
                </a:solidFill>
                <a:latin typeface="Arial"/>
                <a:ea typeface="Arial"/>
                <a:cs typeface="Arial"/>
              </a:defRPr>
            </a:lvl2pPr>
            <a:lvl3pPr algn="l">
              <a:defRPr sz="2025">
                <a:solidFill>
                  <a:srgbClr val="FFFFFF"/>
                </a:solidFill>
                <a:latin typeface="Arial"/>
                <a:ea typeface="Arial"/>
                <a:cs typeface="Arial"/>
              </a:defRPr>
            </a:lvl3pPr>
            <a:lvl4pPr algn="l">
              <a:defRPr sz="2025">
                <a:solidFill>
                  <a:srgbClr val="FFFFFF"/>
                </a:solidFill>
                <a:latin typeface="Arial"/>
                <a:ea typeface="Arial"/>
                <a:cs typeface="Arial"/>
              </a:defRPr>
            </a:lvl4pPr>
            <a:lvl5pPr algn="l">
              <a:defRPr sz="2025">
                <a:solidFill>
                  <a:srgbClr val="FFFFFF"/>
                </a:solidFill>
                <a:latin typeface="Arial"/>
                <a:ea typeface="Arial"/>
                <a:cs typeface="Arial"/>
              </a:defRPr>
            </a:lvl5pPr>
            <a:lvl6pPr algn="l">
              <a:defRPr sz="2025">
                <a:solidFill>
                  <a:srgbClr val="FFFFFF"/>
                </a:solidFill>
                <a:latin typeface="Arial"/>
                <a:ea typeface="Arial"/>
                <a:cs typeface="Arial"/>
              </a:defRPr>
            </a:lvl6pPr>
            <a:lvl7pPr algn="l">
              <a:defRPr sz="2025">
                <a:solidFill>
                  <a:srgbClr val="FFFFFF"/>
                </a:solidFill>
                <a:latin typeface="Arial"/>
                <a:ea typeface="Arial"/>
                <a:cs typeface="Arial"/>
              </a:defRPr>
            </a:lvl7pPr>
            <a:lvl8pPr algn="l">
              <a:defRPr sz="2025">
                <a:solidFill>
                  <a:srgbClr val="FFFFFF"/>
                </a:solidFill>
                <a:latin typeface="Arial"/>
                <a:ea typeface="Arial"/>
                <a:cs typeface="Arial"/>
              </a:defRPr>
            </a:lvl8pPr>
            <a:lvl9pPr algn="l">
              <a:defRPr sz="2025">
                <a:solidFill>
                  <a:srgbClr val="FFFFFF"/>
                </a:solidFill>
                <a:latin typeface="Arial"/>
                <a:ea typeface="Arial"/>
                <a:cs typeface="Arial"/>
              </a:defRPr>
            </a:lvl9pPr>
          </a:lstStyle>
          <a:p xmlns:a="http://schemas.openxmlformats.org/drawingml/2006/main">
            <a:pPr algn="l">
              <a:defRPr sz="2025">
                <a:solidFill>
                  <a:srgbClr val="FFFFFF"/>
                </a:solidFill>
                <a:latin typeface="Arial"/>
                <a:ea typeface="Arial"/>
                <a:cs typeface="Arial"/>
              </a:defRPr>
            </a:pPr>
            <a:r>
              <a:rPr sz="2025">
                <a:solidFill>
                  <a:srgbClr val="FFFFFF"/>
                </a:solidFill>
                <a:latin typeface="Arial"/>
                <a:ea typeface="Arial"/>
                <a:cs typeface="Arial"/>
              </a:rPr>
              <a:t>Sileshi Hirpa</a:t>
            </a:r>
          </a:p>
          <a:p xmlns:a="http://schemas.openxmlformats.org/drawingml/2006/main">
            <a:pPr algn="l">
              <a:defRPr sz="2025">
                <a:solidFill>
                  <a:srgbClr val="FFFFFF"/>
                </a:solidFill>
                <a:latin typeface="Arial"/>
                <a:ea typeface="Arial"/>
                <a:cs typeface="Arial"/>
              </a:defRPr>
            </a:pPr>
            <a:r>
              <a:rPr sz="2025">
                <a:solidFill>
                  <a:srgbClr val="FFFFFF"/>
                </a:solidFill>
                <a:latin typeface="Arial"/>
                <a:ea typeface="Arial"/>
                <a:cs typeface="Arial"/>
              </a:rPr>
              <a:t>Applied machine learning portfolio</a:t>
            </a:r>
          </a:p>
          <a:p xmlns:a="http://schemas.openxmlformats.org/drawingml/2006/main">
            <a:pPr algn="l">
              <a:defRPr sz="2025">
                <a:solidFill>
                  <a:srgbClr val="FFFFFF"/>
                </a:solidFill>
                <a:latin typeface="Arial"/>
                <a:ea typeface="Arial"/>
                <a:cs typeface="Arial"/>
              </a:defRPr>
            </a:pPr>
            <a:r>
              <a:rPr sz="2025">
                <a:solidFill>
                  <a:srgbClr val="FFFFFF"/>
                </a:solidFill>
                <a:latin typeface="Arial"/>
                <a:ea typeface="Arial"/>
                <a:cs typeface="Arial"/>
              </a:rPr>
              <a:t>October 2026</a:t>
            </a:r>
          </a:p>
        </p:txBody>
      </p:sp>
      <p:sp>
        <p:nvSpPr>
          <p:cNvPr id="4" name="disclosure">
            <a:extLst xmlns:a="http://schemas.openxmlformats.org/drawingml/2006/main">
              <a:ext uri="{FF2B5EF4-FFF2-40B4-BE49-F238E27FC236}">
                <a16:creationId xmlns:a16="http://schemas.microsoft.com/office/drawing/2014/main" id="{24975DDC-7C9A-4CE9-9674-87359355F713}"/>
              </a:ext>
            </a:extLst>
          </p:cNvPr>
          <p:cNvSpPr>
            <a:spLocks xmlns:a="http://schemas.openxmlformats.org/drawingml/2006/main" noGrp="1"/>
          </p:cNvSpPr>
          <p:nvPr/>
        </p:nvSpPr>
        <p:spPr>
          <a:xfrm xmlns:a="http://schemas.openxmlformats.org/drawingml/2006/main">
            <a:off x="762000" y="614362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a:solidFill>
                  <a:srgbClr val="BAD0D3"/>
                </a:solidFill>
                <a:latin typeface="Arial"/>
                <a:ea typeface="Arial"/>
                <a:cs typeface="Arial"/>
              </a:defRPr>
            </a:defPPr>
            <a:lvl1pPr algn="l">
              <a:defRPr sz="1500">
                <a:solidFill>
                  <a:srgbClr val="BAD0D3"/>
                </a:solidFill>
                <a:latin typeface="Arial"/>
                <a:ea typeface="Arial"/>
                <a:cs typeface="Arial"/>
              </a:defRPr>
            </a:lvl1pPr>
            <a:lvl2pPr algn="l">
              <a:defRPr sz="1500">
                <a:solidFill>
                  <a:srgbClr val="BAD0D3"/>
                </a:solidFill>
                <a:latin typeface="Arial"/>
                <a:ea typeface="Arial"/>
                <a:cs typeface="Arial"/>
              </a:defRPr>
            </a:lvl2pPr>
            <a:lvl3pPr algn="l">
              <a:defRPr sz="1500">
                <a:solidFill>
                  <a:srgbClr val="BAD0D3"/>
                </a:solidFill>
                <a:latin typeface="Arial"/>
                <a:ea typeface="Arial"/>
                <a:cs typeface="Arial"/>
              </a:defRPr>
            </a:lvl3pPr>
            <a:lvl4pPr algn="l">
              <a:defRPr sz="1500">
                <a:solidFill>
                  <a:srgbClr val="BAD0D3"/>
                </a:solidFill>
                <a:latin typeface="Arial"/>
                <a:ea typeface="Arial"/>
                <a:cs typeface="Arial"/>
              </a:defRPr>
            </a:lvl4pPr>
            <a:lvl5pPr algn="l">
              <a:defRPr sz="1500">
                <a:solidFill>
                  <a:srgbClr val="BAD0D3"/>
                </a:solidFill>
                <a:latin typeface="Arial"/>
                <a:ea typeface="Arial"/>
                <a:cs typeface="Arial"/>
              </a:defRPr>
            </a:lvl5pPr>
            <a:lvl6pPr algn="l">
              <a:defRPr sz="1500">
                <a:solidFill>
                  <a:srgbClr val="BAD0D3"/>
                </a:solidFill>
                <a:latin typeface="Arial"/>
                <a:ea typeface="Arial"/>
                <a:cs typeface="Arial"/>
              </a:defRPr>
            </a:lvl6pPr>
            <a:lvl7pPr algn="l">
              <a:defRPr sz="1500">
                <a:solidFill>
                  <a:srgbClr val="BAD0D3"/>
                </a:solidFill>
                <a:latin typeface="Arial"/>
                <a:ea typeface="Arial"/>
                <a:cs typeface="Arial"/>
              </a:defRPr>
            </a:lvl7pPr>
            <a:lvl8pPr algn="l">
              <a:defRPr sz="1500">
                <a:solidFill>
                  <a:srgbClr val="BAD0D3"/>
                </a:solidFill>
                <a:latin typeface="Arial"/>
                <a:ea typeface="Arial"/>
                <a:cs typeface="Arial"/>
              </a:defRPr>
            </a:lvl8pPr>
            <a:lvl9pPr algn="l">
              <a:defRPr sz="1500">
                <a:solidFill>
                  <a:srgbClr val="BAD0D3"/>
                </a:solidFill>
                <a:latin typeface="Arial"/>
                <a:ea typeface="Arial"/>
                <a:cs typeface="Arial"/>
              </a:defRPr>
            </a:lvl9pPr>
          </a:lstStyle>
          <a:p xmlns:a="http://schemas.openxmlformats.org/drawingml/2006/main">
            <a:pPr algn="l">
              <a:defRPr sz="1500">
                <a:solidFill>
                  <a:srgbClr val="BAD0D3"/>
                </a:solidFill>
                <a:latin typeface="Arial"/>
                <a:ea typeface="Arial"/>
                <a:cs typeface="Arial"/>
              </a:defRPr>
            </a:pPr>
            <a:r>
              <a:rPr sz="1500">
                <a:solidFill>
                  <a:srgbClr val="BAD0D3"/>
                </a:solidFill>
                <a:latin typeface="Arial"/>
                <a:ea typeface="Arial"/>
                <a:cs typeface="Arial"/>
              </a:rPr>
              <a:t>Synthetic research and a deployed private workbench</a:t>
            </a:r>
          </a:p>
        </p:txBody>
      </p:sp>
    </p:spTree>
    <p:extLst>
      <p:ext uri="{BB962C8B-B14F-4D97-AF65-F5344CB8AC3E}">
        <p14:creationId xmlns:p14="http://schemas.microsoft.com/office/powerpoint/2010/main" val="994436689"/>
      </p:ext>
    </p:extLst>
  </p:cSld>
</p:sld>
</file>

<file path=ppt/slides/slide2.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8F59663-695A-4363-A262-7F0186242021}"/>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Fraud review under limited capacity</a:t>
            </a:r>
          </a:p>
        </p:txBody>
      </p:sp>
      <p:sp>
        <p:nvSpPr>
          <p:cNvPr id="2" name="left-heading">
            <a:extLst xmlns:a="http://schemas.openxmlformats.org/drawingml/2006/main">
              <a:ext uri="{FF2B5EF4-FFF2-40B4-BE49-F238E27FC236}">
                <a16:creationId xmlns:a16="http://schemas.microsoft.com/office/drawing/2014/main" id="{8A31DFB5-307F-4F77-B332-CD252481ACB2}"/>
              </a:ext>
            </a:extLst>
          </p:cNvPr>
          <p:cNvSpPr>
            <a:spLocks xmlns:a="http://schemas.openxmlformats.org/drawingml/2006/main" noGrp="1"/>
          </p:cNvSpPr>
          <p:nvPr/>
        </p:nvSpPr>
        <p:spPr>
          <a:xfrm xmlns:a="http://schemas.openxmlformats.org/drawingml/2006/main">
            <a:off x="7239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5% review budget</a:t>
            </a:r>
          </a:p>
        </p:txBody>
      </p:sp>
      <p:sp>
        <p:nvSpPr>
          <p:cNvPr id="3" name="left-content">
            <a:extLst xmlns:a="http://schemas.openxmlformats.org/drawingml/2006/main">
              <a:ext uri="{FF2B5EF4-FFF2-40B4-BE49-F238E27FC236}">
                <a16:creationId xmlns:a16="http://schemas.microsoft.com/office/drawing/2014/main" id="{802EF4E2-5578-41B2-96F5-AD2B60EC6118}"/>
              </a:ext>
            </a:extLst>
          </p:cNvPr>
          <p:cNvSpPr>
            <a:spLocks xmlns:a="http://schemas.openxmlformats.org/drawingml/2006/main" noGrp="1"/>
          </p:cNvSpPr>
          <p:nvPr/>
        </p:nvSpPr>
        <p:spPr>
          <a:xfrm xmlns:a="http://schemas.openxmlformats.org/drawingml/2006/main">
            <a:off x="7239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Rank transactions so analysts can focus their attention.</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Measure fraud recall and value capture at the same review budget.</a:t>
            </a:r>
          </a:p>
        </p:txBody>
      </p:sp>
      <p:sp>
        <p:nvSpPr>
          <p:cNvPr id="4" name="right-heading">
            <a:extLst xmlns:a="http://schemas.openxmlformats.org/drawingml/2006/main">
              <a:ext uri="{FF2B5EF4-FFF2-40B4-BE49-F238E27FC236}">
                <a16:creationId xmlns:a16="http://schemas.microsoft.com/office/drawing/2014/main" id="{AD5C73BD-C317-4FD3-95F2-FCE24F2409CA}"/>
              </a:ext>
            </a:extLst>
          </p:cNvPr>
          <p:cNvSpPr>
            <a:spLocks xmlns:a="http://schemas.openxmlformats.org/drawingml/2006/main" noGrp="1"/>
          </p:cNvSpPr>
          <p:nvPr/>
        </p:nvSpPr>
        <p:spPr>
          <a:xfrm xmlns:a="http://schemas.openxmlformats.org/drawingml/2006/main">
            <a:off x="64770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The operating tradeoff</a:t>
            </a:r>
          </a:p>
        </p:txBody>
      </p:sp>
      <p:sp>
        <p:nvSpPr>
          <p:cNvPr id="5" name="right-content">
            <a:extLst xmlns:a="http://schemas.openxmlformats.org/drawingml/2006/main">
              <a:ext uri="{FF2B5EF4-FFF2-40B4-BE49-F238E27FC236}">
                <a16:creationId xmlns:a16="http://schemas.microsoft.com/office/drawing/2014/main" id="{9D81E90F-AE22-4A75-B08E-DF1446211A9B}"/>
              </a:ext>
            </a:extLst>
          </p:cNvPr>
          <p:cNvSpPr>
            <a:spLocks xmlns:a="http://schemas.openxmlformats.org/drawingml/2006/main" noGrp="1"/>
          </p:cNvSpPr>
          <p:nvPr/>
        </p:nvSpPr>
        <p:spPr>
          <a:xfrm xmlns:a="http://schemas.openxmlformats.org/drawingml/2006/main">
            <a:off x="64770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False positives consume analyst time and may inconvenience customers.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A high ranking score does not automatically imply the lowest operating cost.</a:t>
            </a:r>
          </a:p>
        </p:txBody>
      </p:sp>
      <p:sp>
        <p:nvSpPr>
          <p:cNvPr id="6" name="note">
            <a:extLst xmlns:a="http://schemas.openxmlformats.org/drawingml/2006/main">
              <a:ext uri="{FF2B5EF4-FFF2-40B4-BE49-F238E27FC236}">
                <a16:creationId xmlns:a16="http://schemas.microsoft.com/office/drawing/2014/main" id="{4CBD8D74-39AD-4663-920C-D311CE05015F}"/>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The 5% budget and cost assumptions define the experiment, not an employer's operating policy.</a:t>
            </a:r>
          </a:p>
        </p:txBody>
      </p:sp>
      <p:sp>
        <p:nvSpPr>
          <p:cNvPr id="7" name="page">
            <a:extLst xmlns:a="http://schemas.openxmlformats.org/drawingml/2006/main">
              <a:ext uri="{FF2B5EF4-FFF2-40B4-BE49-F238E27FC236}">
                <a16:creationId xmlns:a16="http://schemas.microsoft.com/office/drawing/2014/main" id="{23113AD7-4BAC-4920-AAB9-13E53C1EA7E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02</a:t>
            </a:r>
          </a:p>
        </p:txBody>
      </p:sp>
    </p:spTree>
    <p:extLst>
      <p:ext uri="{BB962C8B-B14F-4D97-AF65-F5344CB8AC3E}">
        <p14:creationId xmlns:p14="http://schemas.microsoft.com/office/powerpoint/2010/main" val="132405954"/>
      </p:ext>
    </p:extLst>
  </p:cSld>
</p:sld>
</file>

<file path=ppt/slides/slide3.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8E6B98-9848-4707-A7F7-53C59A7DEE40}"/>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End-to-end application</a:t>
            </a:r>
          </a:p>
        </p:txBody>
      </p:sp>
      <p:graphicFrame>
        <p:nvGraphicFramePr>
          <p:cNvPr id="2" name="">
            <a:extLst xmlns:a="http://schemas.openxmlformats.org/drawingml/2006/main">
              <a:ext uri="{FF2B5EF4-FFF2-40B4-BE49-F238E27FC236}">
                <a16:creationId xmlns:a16="http://schemas.microsoft.com/office/drawing/2014/main" id="{E3AC3937-5302-4509-93E7-1394764B780B}"/>
              </a:ext>
            </a:extLst>
          </p:cNvPr>
          <p:cNvGraphicFramePr/>
          <p:nvPr/>
        </p:nvGraphicFramePr>
        <p:xfrm>
          <a:off xmlns:a="http://schemas.openxmlformats.org/drawingml/2006/main" x="685800" y="1752600"/>
          <a:ext xmlns:a="http://schemas.openxmlformats.org/drawingml/2006/main" cx="10820400" cy="3714750"/>
        </p:xfrm>
        <a:graphic xmlns:a="http://schemas.openxmlformats.org/drawingml/2006/main">
          <a:graphicData uri="http://schemas.openxmlformats.org/drawingml/2006/table">
            <a:tbl>
              <a:tblPr/>
              <a:tblGrid>
                <a:gridCol w="2571750"/>
                <a:gridCol w="8248650"/>
              </a:tblGrid>
              <a:tr h="619125">
                <a:tc>
                  <a:txBody>
                    <a:bodyPr/>
                    <a:lstStyle/>
                    <a:p>
                      <a:r>
                        <a:rPr sz="1800" b="1">
                          <a:solidFill>
                            <a:srgbClr val="FFFFFF"/>
                          </a:solidFill>
                          <a:latin typeface="Arial"/>
                          <a:ea typeface="Arial"/>
                          <a:cs typeface="Arial"/>
                        </a:rPr>
                        <a:t>Layer</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Working behavior</a:t>
                      </a:r>
                    </a:p>
                  </a:txBody>
                  <a:tcPr marL="91440" marR="91440" marT="45720" marB="45720">
                    <a:lnR w="0">
                      <a:noFill/>
                    </a:lnR>
                    <a:lnT w="0">
                      <a:noFill/>
                    </a:lnT>
                    <a:lnB w="0">
                      <a:noFill/>
                    </a:lnB>
                    <a:solidFill>
                      <a:srgbClr val="102C32"/>
                    </a:solidFill>
                  </a:tcPr>
                </a:tc>
              </a:tr>
              <a:tr h="619125">
                <a:tc>
                  <a:txBody>
                    <a:bodyPr/>
                    <a:lstStyle/>
                    <a:p>
                      <a:r>
                        <a:rPr sz="1950" b="0">
                          <a:solidFill>
                            <a:srgbClr val="102C32"/>
                          </a:solidFill>
                          <a:latin typeface="Arial"/>
                          <a:ea typeface="Arial"/>
                          <a:cs typeface="Arial"/>
                        </a:rPr>
                        <a:t>Analyst interface</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Review queue, case details, graph evidence, model comparison</a:t>
                      </a:r>
                    </a:p>
                  </a:txBody>
                  <a:tcPr marL="91440" marR="91440" marT="45720" marB="45720">
                    <a:lnR w="0">
                      <a:noFill/>
                    </a:lnR>
                    <a:lnB w="0">
                      <a:noFill/>
                    </a:lnB>
                    <a:solidFill>
                      <a:srgbClr val="F7F6F2"/>
                    </a:solidFill>
                  </a:tcPr>
                </a:tc>
              </a:tr>
              <a:tr h="619125">
                <a:tc>
                  <a:txBody>
                    <a:bodyPr/>
                    <a:lstStyle/>
                    <a:p>
                      <a:r>
                        <a:rPr sz="1950" b="0">
                          <a:solidFill>
                            <a:srgbClr val="102C32"/>
                          </a:solidFill>
                          <a:latin typeface="Arial"/>
                          <a:ea typeface="Arial"/>
                          <a:cs typeface="Arial"/>
                        </a:rPr>
                        <a:t>API</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Input validation, ownership, idempotency, revision checks</a:t>
                      </a:r>
                    </a:p>
                  </a:txBody>
                  <a:tcPr marL="91440" marR="91440" marT="45720" marB="45720">
                    <a:lnR w="0">
                      <a:noFill/>
                    </a:lnR>
                    <a:lnB w="0">
                      <a:noFill/>
                    </a:lnB>
                    <a:solidFill>
                      <a:srgbClr val="EDF1ED"/>
                    </a:solidFill>
                  </a:tcPr>
                </a:tc>
              </a:tr>
              <a:tr h="619125">
                <a:tc>
                  <a:txBody>
                    <a:bodyPr/>
                    <a:lstStyle/>
                    <a:p>
                      <a:r>
                        <a:rPr sz="1950" b="0">
                          <a:solidFill>
                            <a:srgbClr val="102C32"/>
                          </a:solidFill>
                          <a:latin typeface="Arial"/>
                          <a:ea typeface="Arial"/>
                          <a:cs typeface="Arial"/>
                        </a:rPr>
                        <a:t>Inference</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Calibrated logistic decisions and a GNN in shadow mode</a:t>
                      </a:r>
                    </a:p>
                  </a:txBody>
                  <a:tcPr marL="91440" marR="91440" marT="45720" marB="45720">
                    <a:lnR w="0">
                      <a:noFill/>
                    </a:lnR>
                    <a:lnB w="0">
                      <a:noFill/>
                    </a:lnB>
                    <a:solidFill>
                      <a:srgbClr val="F7F6F2"/>
                    </a:solidFill>
                  </a:tcPr>
                </a:tc>
              </a:tr>
              <a:tr h="619125">
                <a:tc>
                  <a:txBody>
                    <a:bodyPr/>
                    <a:lstStyle/>
                    <a:p>
                      <a:r>
                        <a:rPr sz="1950" b="0">
                          <a:solidFill>
                            <a:srgbClr val="102C32"/>
                          </a:solidFill>
                          <a:latin typeface="Arial"/>
                          <a:ea typeface="Arial"/>
                          <a:cs typeface="Arial"/>
                        </a:rPr>
                        <a:t>Persistent state</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Cloudflare D1 records, reviews and audit chain</a:t>
                      </a:r>
                    </a:p>
                  </a:txBody>
                  <a:tcPr marL="91440" marR="91440" marT="45720" marB="45720">
                    <a:lnR w="0">
                      <a:noFill/>
                    </a:lnR>
                    <a:lnB w="0">
                      <a:noFill/>
                    </a:lnB>
                    <a:solidFill>
                      <a:srgbClr val="EDF1ED"/>
                    </a:solidFill>
                  </a:tcPr>
                </a:tc>
              </a:tr>
              <a:tr h="619125">
                <a:tc>
                  <a:txBody>
                    <a:bodyPr/>
                    <a:lstStyle/>
                    <a:p>
                      <a:r>
                        <a:rPr sz="1950" b="0">
                          <a:solidFill>
                            <a:srgbClr val="102C32"/>
                          </a:solidFill>
                          <a:latin typeface="Arial"/>
                          <a:ea typeface="Arial"/>
                          <a:cs typeface="Arial"/>
                        </a:rPr>
                        <a:t>Research dashboard</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Seven model families and frozen structural stress results</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D7A3EAE0-56B8-4814-8CC0-29530010F46D}"/>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React and TypeScript on Cloudflare Workers. The current deployment is owner-private.</a:t>
            </a:r>
          </a:p>
        </p:txBody>
      </p:sp>
      <p:sp>
        <p:nvSpPr>
          <p:cNvPr id="4" name="page">
            <a:extLst xmlns:a="http://schemas.openxmlformats.org/drawingml/2006/main">
              <a:ext uri="{FF2B5EF4-FFF2-40B4-BE49-F238E27FC236}">
                <a16:creationId xmlns:a16="http://schemas.microsoft.com/office/drawing/2014/main" id="{5472F918-CBC2-41D5-B77C-8A37DEF33EE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03</a:t>
            </a:r>
          </a:p>
        </p:txBody>
      </p:sp>
    </p:spTree>
    <p:extLst>
      <p:ext uri="{BB962C8B-B14F-4D97-AF65-F5344CB8AC3E}">
        <p14:creationId xmlns:p14="http://schemas.microsoft.com/office/powerpoint/2010/main" val="1209562600"/>
      </p:ext>
    </p:extLst>
  </p:cSld>
</p:sld>
</file>

<file path=ppt/slides/slide4.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CF69D2-7F65-4052-AFA3-4849C4D0CFE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Chronological evaluation protocol</a:t>
            </a:r>
          </a:p>
        </p:txBody>
      </p:sp>
      <p:graphicFrame>
        <p:nvGraphicFramePr>
          <p:cNvPr id="2" name="">
            <a:extLst xmlns:a="http://schemas.openxmlformats.org/drawingml/2006/main">
              <a:ext uri="{FF2B5EF4-FFF2-40B4-BE49-F238E27FC236}">
                <a16:creationId xmlns:a16="http://schemas.microsoft.com/office/drawing/2014/main" id="{E8CE3FD0-AF62-4BA9-A650-3E658FD460F3}"/>
              </a:ext>
            </a:extLst>
          </p:cNvPr>
          <p:cNvGraphicFramePr/>
          <p:nvPr/>
        </p:nvGraphicFramePr>
        <p:xfrm>
          <a:off xmlns:a="http://schemas.openxmlformats.org/drawingml/2006/main" x="685800" y="1752600"/>
          <a:ext xmlns:a="http://schemas.openxmlformats.org/drawingml/2006/main" cx="10820400" cy="3714750"/>
        </p:xfrm>
        <a:graphic xmlns:a="http://schemas.openxmlformats.org/drawingml/2006/main">
          <a:graphicData uri="http://schemas.openxmlformats.org/drawingml/2006/table">
            <a:tbl>
              <a:tblPr/>
              <a:tblGrid>
                <a:gridCol w="2476500"/>
                <a:gridCol w="3143250"/>
                <a:gridCol w="5200650"/>
              </a:tblGrid>
              <a:tr h="742950">
                <a:tc>
                  <a:txBody>
                    <a:bodyPr/>
                    <a:lstStyle/>
                    <a:p>
                      <a:r>
                        <a:rPr sz="1800" b="1">
                          <a:solidFill>
                            <a:srgbClr val="FFFFFF"/>
                          </a:solidFill>
                          <a:latin typeface="Arial"/>
                          <a:ea typeface="Arial"/>
                          <a:cs typeface="Arial"/>
                        </a:rPr>
                        <a:t>Stage</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Elapsed-time allocation</a:t>
                      </a:r>
                    </a:p>
                  </a:txBody>
                  <a:tcPr marL="91440" marR="91440" marT="45720" marB="45720">
                    <a:lnR w="0">
                      <a:noFill/>
                    </a:lnR>
                    <a:lnT w="0">
                      <a:noFill/>
                    </a:lnT>
                    <a:lnB w="0">
                      <a:noFill/>
                    </a:lnB>
                    <a:solidFill>
                      <a:srgbClr val="102C32"/>
                    </a:solidFill>
                  </a:tcPr>
                </a:tc>
                <a:tc>
                  <a:txBody>
                    <a:bodyPr/>
                    <a:lstStyle/>
                    <a:p>
                      <a:r>
                        <a:rPr sz="1800" b="1">
                          <a:solidFill>
                            <a:srgbClr val="FFFFFF"/>
                          </a:solidFill>
                          <a:latin typeface="Arial"/>
                          <a:ea typeface="Arial"/>
                          <a:cs typeface="Arial"/>
                        </a:rPr>
                        <a:t>Purpose</a:t>
                      </a:r>
                    </a:p>
                  </a:txBody>
                  <a:tcPr marL="91440" marR="91440" marT="45720" marB="45720">
                    <a:lnR w="0">
                      <a:noFill/>
                    </a:lnR>
                    <a:lnT w="0">
                      <a:noFill/>
                    </a:lnT>
                    <a:lnB w="0">
                      <a:noFill/>
                    </a:lnB>
                    <a:solidFill>
                      <a:srgbClr val="102C32"/>
                    </a:solidFill>
                  </a:tcPr>
                </a:tc>
              </a:tr>
              <a:tr h="742950">
                <a:tc>
                  <a:txBody>
                    <a:bodyPr/>
                    <a:lstStyle/>
                    <a:p>
                      <a:r>
                        <a:rPr sz="1950" b="0">
                          <a:solidFill>
                            <a:srgbClr val="102C32"/>
                          </a:solidFill>
                          <a:latin typeface="Arial"/>
                          <a:ea typeface="Arial"/>
                          <a:cs typeface="Arial"/>
                        </a:rPr>
                        <a:t>Training</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55%</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Fit preprocessing and model parameters</a:t>
                      </a:r>
                    </a:p>
                  </a:txBody>
                  <a:tcPr marL="91440" marR="91440" marT="45720" marB="45720">
                    <a:lnR w="0">
                      <a:noFill/>
                    </a:lnR>
                    <a:lnB w="0">
                      <a:noFill/>
                    </a:lnB>
                    <a:solidFill>
                      <a:srgbClr val="F7F6F2"/>
                    </a:solidFill>
                  </a:tcPr>
                </a:tc>
              </a:tr>
              <a:tr h="742950">
                <a:tc>
                  <a:txBody>
                    <a:bodyPr/>
                    <a:lstStyle/>
                    <a:p>
                      <a:r>
                        <a:rPr sz="1950" b="0">
                          <a:solidFill>
                            <a:srgbClr val="102C32"/>
                          </a:solidFill>
                          <a:latin typeface="Arial"/>
                          <a:ea typeface="Arial"/>
                          <a:cs typeface="Arial"/>
                        </a:rPr>
                        <a:t>Calibration</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15%</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Map scores to probability estimates</a:t>
                      </a:r>
                    </a:p>
                  </a:txBody>
                  <a:tcPr marL="91440" marR="91440" marT="45720" marB="45720">
                    <a:lnR w="0">
                      <a:noFill/>
                    </a:lnR>
                    <a:lnB w="0">
                      <a:noFill/>
                    </a:lnB>
                    <a:solidFill>
                      <a:srgbClr val="EDF1ED"/>
                    </a:solidFill>
                  </a:tcPr>
                </a:tc>
              </a:tr>
              <a:tr h="742950">
                <a:tc>
                  <a:txBody>
                    <a:bodyPr/>
                    <a:lstStyle/>
                    <a:p>
                      <a:r>
                        <a:rPr sz="1950" b="0">
                          <a:solidFill>
                            <a:srgbClr val="102C32"/>
                          </a:solidFill>
                          <a:latin typeface="Arial"/>
                          <a:ea typeface="Arial"/>
                          <a:cs typeface="Arial"/>
                        </a:rPr>
                        <a:t>Validation</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10%</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Select model and decision threshold</a:t>
                      </a:r>
                    </a:p>
                  </a:txBody>
                  <a:tcPr marL="91440" marR="91440" marT="45720" marB="45720">
                    <a:lnR w="0">
                      <a:noFill/>
                    </a:lnR>
                    <a:lnB w="0">
                      <a:noFill/>
                    </a:lnB>
                    <a:solidFill>
                      <a:srgbClr val="F7F6F2"/>
                    </a:solidFill>
                  </a:tcPr>
                </a:tc>
              </a:tr>
              <a:tr h="742950">
                <a:tc>
                  <a:txBody>
                    <a:bodyPr/>
                    <a:lstStyle/>
                    <a:p>
                      <a:r>
                        <a:rPr sz="1950" b="0">
                          <a:solidFill>
                            <a:srgbClr val="102C32"/>
                          </a:solidFill>
                          <a:latin typeface="Arial"/>
                          <a:ea typeface="Arial"/>
                          <a:cs typeface="Arial"/>
                        </a:rPr>
                        <a:t>Final test</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20%</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Evaluate the frozen choices</a:t>
                      </a:r>
                    </a:p>
                  </a:txBody>
                  <a:tcPr marL="91440" marR="91440" marT="45720" marB="45720">
                    <a:lnR w="0">
                      <a:noFill/>
                    </a:lnR>
                    <a:lnB w="0">
                      <a:noFill/>
                    </a:lnB>
                    <a:solidFill>
                      <a:srgbClr val="EDF1ED"/>
                    </a:solidFill>
                  </a:tcPr>
                </a:tc>
              </a:tr>
            </a:tbl>
          </a:graphicData>
        </a:graphic>
      </p:graphicFrame>
      <p:sp>
        <p:nvSpPr>
          <p:cNvPr id="3" name="note">
            <a:extLst xmlns:a="http://schemas.openxmlformats.org/drawingml/2006/main">
              <a:ext uri="{FF2B5EF4-FFF2-40B4-BE49-F238E27FC236}">
                <a16:creationId xmlns:a16="http://schemas.microsoft.com/office/drawing/2014/main" id="{EC28B150-4358-4B1C-8643-E81B43C8FC9F}"/>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Three seeds, 60,000 events per seed. A two-day assumed label-maturity purge applies at boundaries.</a:t>
            </a:r>
          </a:p>
        </p:txBody>
      </p:sp>
      <p:sp>
        <p:nvSpPr>
          <p:cNvPr id="4" name="page">
            <a:extLst xmlns:a="http://schemas.openxmlformats.org/drawingml/2006/main">
              <a:ext uri="{FF2B5EF4-FFF2-40B4-BE49-F238E27FC236}">
                <a16:creationId xmlns:a16="http://schemas.microsoft.com/office/drawing/2014/main" id="{44DFBF85-419A-4E6B-9D01-617B3601BAC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04</a:t>
            </a:r>
          </a:p>
        </p:txBody>
      </p:sp>
    </p:spTree>
    <p:extLst>
      <p:ext uri="{BB962C8B-B14F-4D97-AF65-F5344CB8AC3E}">
        <p14:creationId xmlns:p14="http://schemas.microsoft.com/office/powerpoint/2010/main" val="468908455"/>
      </p:ext>
    </p:extLst>
  </p:cSld>
</p:sld>
</file>

<file path=ppt/slides/slide5.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54774D-AC1E-4AB5-BE99-4C9AF3CBDDF3}"/>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The temporal graph contract</a:t>
            </a:r>
          </a:p>
        </p:txBody>
      </p:sp>
      <p:graphicFrame>
        <p:nvGraphicFramePr>
          <p:cNvPr id="2" name="">
            <a:extLst xmlns:a="http://schemas.openxmlformats.org/drawingml/2006/main">
              <a:ext uri="{FF2B5EF4-FFF2-40B4-BE49-F238E27FC236}">
                <a16:creationId xmlns:a16="http://schemas.microsoft.com/office/drawing/2014/main" id="{57C399E4-76E1-40CF-8A22-678A9E4DEC93}"/>
              </a:ext>
            </a:extLst>
          </p:cNvPr>
          <p:cNvGraphicFramePr/>
          <p:nvPr/>
        </p:nvGraphicFramePr>
        <p:xfrm>
          <a:off xmlns:a="http://schemas.openxmlformats.org/drawingml/2006/main" x="685800" y="1752600"/>
          <a:ext xmlns:a="http://schemas.openxmlformats.org/drawingml/2006/main" cx="10820400" cy="3714750"/>
        </p:xfrm>
        <a:graphic xmlns:a="http://schemas.openxmlformats.org/drawingml/2006/main">
          <a:graphicData uri="http://schemas.openxmlformats.org/drawingml/2006/table">
            <a:tbl>
              <a:tblPr/>
              <a:tblGrid>
                <a:gridCol w="3238500"/>
                <a:gridCol w="7581900"/>
              </a:tblGrid>
              <a:tr h="619125">
                <a:tc>
                  <a:txBody>
                    <a:bodyPr/>
                    <a:lstStyle/>
                    <a:p>
                      <a:r>
                        <a:rPr sz="1800" b="1">
                          <a:solidFill>
                            <a:srgbClr val="FFFFFF"/>
                          </a:solidFill>
                          <a:latin typeface="Arial"/>
                          <a:ea typeface="Arial"/>
                          <a:cs typeface="Arial"/>
                        </a:rPr>
                        <a:t>Element</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Implementation</a:t>
                      </a:r>
                    </a:p>
                  </a:txBody>
                  <a:tcPr marL="91440" marR="91440" marT="45720" marB="45720">
                    <a:lnR w="0">
                      <a:noFill/>
                    </a:lnR>
                    <a:lnT w="0">
                      <a:noFill/>
                    </a:lnT>
                    <a:lnB w="0">
                      <a:noFill/>
                    </a:lnB>
                    <a:solidFill>
                      <a:srgbClr val="102C32"/>
                    </a:solidFill>
                  </a:tcPr>
                </a:tc>
              </a:tr>
              <a:tr h="619125">
                <a:tc>
                  <a:txBody>
                    <a:bodyPr/>
                    <a:lstStyle/>
                    <a:p>
                      <a:r>
                        <a:rPr sz="1950" b="0">
                          <a:solidFill>
                            <a:srgbClr val="102C32"/>
                          </a:solidFill>
                          <a:latin typeface="Arial"/>
                          <a:ea typeface="Arial"/>
                          <a:cs typeface="Arial"/>
                        </a:rPr>
                        <a:t>Prediction unit</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A transaction at time t</a:t>
                      </a:r>
                    </a:p>
                  </a:txBody>
                  <a:tcPr marL="91440" marR="91440" marT="45720" marB="45720">
                    <a:lnR w="0">
                      <a:noFill/>
                    </a:lnR>
                    <a:lnB w="0">
                      <a:noFill/>
                    </a:lnB>
                    <a:solidFill>
                      <a:srgbClr val="F7F6F2"/>
                    </a:solidFill>
                  </a:tcPr>
                </a:tc>
              </a:tr>
              <a:tr h="619125">
                <a:tc>
                  <a:txBody>
                    <a:bodyPr/>
                    <a:lstStyle/>
                    <a:p>
                      <a:r>
                        <a:rPr sz="1950" b="0">
                          <a:solidFill>
                            <a:srgbClr val="102C32"/>
                          </a:solidFill>
                          <a:latin typeface="Arial"/>
                          <a:ea typeface="Arial"/>
                          <a:cs typeface="Arial"/>
                        </a:rPr>
                        <a:t>Account relation</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Earlier transactions on the same account, within 7 days</a:t>
                      </a:r>
                    </a:p>
                  </a:txBody>
                  <a:tcPr marL="91440" marR="91440" marT="45720" marB="45720">
                    <a:lnR w="0">
                      <a:noFill/>
                    </a:lnR>
                    <a:lnB w="0">
                      <a:noFill/>
                    </a:lnB>
                    <a:solidFill>
                      <a:srgbClr val="EDF1ED"/>
                    </a:solidFill>
                  </a:tcPr>
                </a:tc>
              </a:tr>
              <a:tr h="619125">
                <a:tc>
                  <a:txBody>
                    <a:bodyPr/>
                    <a:lstStyle/>
                    <a:p>
                      <a:r>
                        <a:rPr sz="1950" b="0">
                          <a:solidFill>
                            <a:srgbClr val="102C32"/>
                          </a:solidFill>
                          <a:latin typeface="Arial"/>
                          <a:ea typeface="Arial"/>
                          <a:cs typeface="Arial"/>
                        </a:rPr>
                        <a:t>Device relation</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Earlier transactions on the same device, within 1 day</a:t>
                      </a:r>
                    </a:p>
                  </a:txBody>
                  <a:tcPr marL="91440" marR="91440" marT="45720" marB="45720">
                    <a:lnR w="0">
                      <a:noFill/>
                    </a:lnR>
                    <a:lnB w="0">
                      <a:noFill/>
                    </a:lnB>
                    <a:solidFill>
                      <a:srgbClr val="F7F6F2"/>
                    </a:solidFill>
                  </a:tcPr>
                </a:tc>
              </a:tr>
              <a:tr h="619125">
                <a:tc>
                  <a:txBody>
                    <a:bodyPr/>
                    <a:lstStyle/>
                    <a:p>
                      <a:r>
                        <a:rPr sz="1950" b="0">
                          <a:solidFill>
                            <a:srgbClr val="102C32"/>
                          </a:solidFill>
                          <a:latin typeface="Arial"/>
                          <a:ea typeface="Arial"/>
                          <a:cs typeface="Arial"/>
                        </a:rPr>
                        <a:t>Neighborhood bound</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Latest 8 neighbors per relation</a:t>
                      </a:r>
                    </a:p>
                  </a:txBody>
                  <a:tcPr marL="91440" marR="91440" marT="45720" marB="45720">
                    <a:lnR w="0">
                      <a:noFill/>
                    </a:lnR>
                    <a:lnB w="0">
                      <a:noFill/>
                    </a:lnB>
                    <a:solidFill>
                      <a:srgbClr val="EDF1ED"/>
                    </a:solidFill>
                  </a:tcPr>
                </a:tc>
              </a:tr>
              <a:tr h="619125">
                <a:tc>
                  <a:txBody>
                    <a:bodyPr/>
                    <a:lstStyle/>
                    <a:p>
                      <a:r>
                        <a:rPr sz="1950" b="0">
                          <a:solidFill>
                            <a:srgbClr val="102C32"/>
                          </a:solidFill>
                          <a:latin typeface="Arial"/>
                          <a:ea typeface="Arial"/>
                          <a:cs typeface="Arial"/>
                        </a:rPr>
                        <a:t>Leakage rule</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Exclude current, equal-time and future events</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CF545312-F29B-43B2-9D99-9A6F44F56D9F}"/>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One-hop, relation-typed transaction projection. This implementation has no recurrent TGN memory.</a:t>
            </a:r>
          </a:p>
        </p:txBody>
      </p:sp>
      <p:sp>
        <p:nvSpPr>
          <p:cNvPr id="4" name="page">
            <a:extLst xmlns:a="http://schemas.openxmlformats.org/drawingml/2006/main">
              <a:ext uri="{FF2B5EF4-FFF2-40B4-BE49-F238E27FC236}">
                <a16:creationId xmlns:a16="http://schemas.microsoft.com/office/drawing/2014/main" id="{2EEDA35F-829F-4813-8013-4FC1C3964A5C}"/>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05</a:t>
            </a:r>
          </a:p>
        </p:txBody>
      </p:sp>
    </p:spTree>
    <p:extLst>
      <p:ext uri="{BB962C8B-B14F-4D97-AF65-F5344CB8AC3E}">
        <p14:creationId xmlns:p14="http://schemas.microsoft.com/office/powerpoint/2010/main" val="1807569007"/>
      </p:ext>
    </p:extLst>
  </p:cSld>
</p:sld>
</file>

<file path=ppt/slides/slide6.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8F83E14-2C51-4C4E-8809-4C62B82CD351}"/>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Modern GNN ideas with explicit controls</a:t>
            </a:r>
          </a:p>
        </p:txBody>
      </p:sp>
      <p:sp>
        <p:nvSpPr>
          <p:cNvPr id="2" name="left-heading">
            <a:extLst xmlns:a="http://schemas.openxmlformats.org/drawingml/2006/main">
              <a:ext uri="{FF2B5EF4-FFF2-40B4-BE49-F238E27FC236}">
                <a16:creationId xmlns:a16="http://schemas.microsoft.com/office/drawing/2014/main" id="{A498CB45-A649-4FED-AD1A-56508D6457B8}"/>
              </a:ext>
            </a:extLst>
          </p:cNvPr>
          <p:cNvSpPr>
            <a:spLocks xmlns:a="http://schemas.openxmlformats.org/drawingml/2006/main" noGrp="1"/>
          </p:cNvSpPr>
          <p:nvPr/>
        </p:nvSpPr>
        <p:spPr>
          <a:xfrm xmlns:a="http://schemas.openxmlformats.org/drawingml/2006/main">
            <a:off x="7239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Graph candidates</a:t>
            </a:r>
          </a:p>
        </p:txBody>
      </p:sp>
      <p:sp>
        <p:nvSpPr>
          <p:cNvPr id="3" name="left-content">
            <a:extLst xmlns:a="http://schemas.openxmlformats.org/drawingml/2006/main">
              <a:ext uri="{FF2B5EF4-FFF2-40B4-BE49-F238E27FC236}">
                <a16:creationId xmlns:a16="http://schemas.microsoft.com/office/drawing/2014/main" id="{AE5094F4-58A0-461F-8F52-2BE7DA9D2F94}"/>
              </a:ext>
            </a:extLst>
          </p:cNvPr>
          <p:cNvSpPr>
            <a:spLocks xmlns:a="http://schemas.openxmlformats.org/drawingml/2006/main" noGrp="1"/>
          </p:cNvSpPr>
          <p:nvPr/>
        </p:nvSpPr>
        <p:spPr>
          <a:xfrm xmlns:a="http://schemas.openxmlformats.org/drawingml/2006/main">
            <a:off x="7239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Relational GraphSAGE-style aggregation</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Temporal multi-head relation attention</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Risk-gated temporal attention</a:t>
            </a:r>
          </a:p>
        </p:txBody>
      </p:sp>
      <p:sp>
        <p:nvSpPr>
          <p:cNvPr id="4" name="right-heading">
            <a:extLst xmlns:a="http://schemas.openxmlformats.org/drawingml/2006/main">
              <a:ext uri="{FF2B5EF4-FFF2-40B4-BE49-F238E27FC236}">
                <a16:creationId xmlns:a16="http://schemas.microsoft.com/office/drawing/2014/main" id="{D3957ACF-310B-4CD8-B0A9-328BC62F56FD}"/>
              </a:ext>
            </a:extLst>
          </p:cNvPr>
          <p:cNvSpPr>
            <a:spLocks xmlns:a="http://schemas.openxmlformats.org/drawingml/2006/main" noGrp="1"/>
          </p:cNvSpPr>
          <p:nvPr/>
        </p:nvSpPr>
        <p:spPr>
          <a:xfrm xmlns:a="http://schemas.openxmlformats.org/drawingml/2006/main">
            <a:off x="64770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Experimental controls</a:t>
            </a:r>
          </a:p>
        </p:txBody>
      </p:sp>
      <p:sp>
        <p:nvSpPr>
          <p:cNvPr id="5" name="right-content">
            <a:extLst xmlns:a="http://schemas.openxmlformats.org/drawingml/2006/main">
              <a:ext uri="{FF2B5EF4-FFF2-40B4-BE49-F238E27FC236}">
                <a16:creationId xmlns:a16="http://schemas.microsoft.com/office/drawing/2014/main" id="{1C7194BB-5F6C-4603-997A-283AE8FDA807}"/>
              </a:ext>
            </a:extLst>
          </p:cNvPr>
          <p:cNvSpPr>
            <a:spLocks xmlns:a="http://schemas.openxmlformats.org/drawingml/2006/main" noGrp="1"/>
          </p:cNvSpPr>
          <p:nvPr/>
        </p:nvSpPr>
        <p:spPr>
          <a:xfrm xmlns:a="http://schemas.openxmlformats.org/drawingml/2006/main">
            <a:off x="64770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No-edge MLP with the same encoded features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Logistic regression, gradient boosting and Isolation Forest</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Matched data and chronological splits</a:t>
            </a:r>
          </a:p>
        </p:txBody>
      </p:sp>
      <p:sp>
        <p:nvSpPr>
          <p:cNvPr id="6" name="note">
            <a:extLst xmlns:a="http://schemas.openxmlformats.org/drawingml/2006/main">
              <a:ext uri="{FF2B5EF4-FFF2-40B4-BE49-F238E27FC236}">
                <a16:creationId xmlns:a16="http://schemas.microsoft.com/office/drawing/2014/main" id="{A5515305-875C-4CBD-A6CA-041BCE250012}"/>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Risk gating adapts a 2026 preprint using a causal logistic teacher. It is not an exact paper reproduction.</a:t>
            </a:r>
          </a:p>
        </p:txBody>
      </p:sp>
      <p:sp>
        <p:nvSpPr>
          <p:cNvPr id="7" name="page">
            <a:extLst xmlns:a="http://schemas.openxmlformats.org/drawingml/2006/main">
              <a:ext uri="{FF2B5EF4-FFF2-40B4-BE49-F238E27FC236}">
                <a16:creationId xmlns:a16="http://schemas.microsoft.com/office/drawing/2014/main" id="{6945EAFE-891F-448E-974D-D4A1E696988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06</a:t>
            </a:r>
          </a:p>
        </p:txBody>
      </p:sp>
    </p:spTree>
    <p:extLst>
      <p:ext uri="{BB962C8B-B14F-4D97-AF65-F5344CB8AC3E}">
        <p14:creationId xmlns:p14="http://schemas.microsoft.com/office/powerpoint/2010/main" val="1631168034"/>
      </p:ext>
    </p:extLst>
  </p:cSld>
</p:sld>
</file>

<file path=ppt/slides/slide7.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136E1B-3751-468A-AED2-CA8D282C71A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GraphSAGE leads recall at the 5% budget</a:t>
            </a:r>
          </a:p>
        </p:txBody>
      </p:sp>
      <p:graphicFrame>
        <p:nvGraphicFramePr>
          <p:cNvPr id="2" name="Chart">
            <a:extLst xmlns:a="http://schemas.openxmlformats.org/drawingml/2006/main">
              <a:ext uri="{FF2B5EF4-FFF2-40B4-BE49-F238E27FC236}">
                <a16:creationId xmlns:a16="http://schemas.microsoft.com/office/drawing/2014/main" id="{5196514D-7B02-425B-AD73-3AF7B0AEE6D9}"/>
              </a:ext>
            </a:extLst>
          </p:cNvPr>
          <p:cNvGraphicFramePr/>
          <p:nvPr/>
        </p:nvGraphicFramePr>
        <p:xfrm>
          <a:off xmlns:a="http://schemas.openxmlformats.org/drawingml/2006/main" x="685800" y="1657350"/>
          <a:ext xmlns:a="http://schemas.openxmlformats.org/drawingml/2006/main" cx="10820400" cy="4114800"/>
        </p:xfrm>
        <a:graphic xmlns:a="http://schemas.openxmlformats.org/drawingml/2006/main">
          <a:graphicData uri="http://schemas.openxmlformats.org/drawingml/2006/chart">
            <c:chart xmlns:r="http://schemas.openxmlformats.org/officeDocument/2006/relationships" xmlns:c="http://schemas.openxmlformats.org/drawingml/2006/chart" r:id="Rb3cf8c0cbea24a07"/>
          </a:graphicData>
        </a:graphic>
      </p:graphicFrame>
      <p:sp>
        <p:nvSpPr>
          <p:cNvPr id="3" name="note">
            <a:extLst xmlns:a="http://schemas.openxmlformats.org/drawingml/2006/main">
              <a:ext uri="{FF2B5EF4-FFF2-40B4-BE49-F238E27FC236}">
                <a16:creationId xmlns:a16="http://schemas.microsoft.com/office/drawing/2014/main" id="{CD008C43-C68F-4790-A3AC-C3CB88320717}"/>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Synthetic means across three seeds. GraphSAGE exceeds the no-edge MLP by 1.11 percentage points.</a:t>
            </a:r>
          </a:p>
        </p:txBody>
      </p:sp>
      <p:sp>
        <p:nvSpPr>
          <p:cNvPr id="4" name="page">
            <a:extLst xmlns:a="http://schemas.openxmlformats.org/drawingml/2006/main">
              <a:ext uri="{FF2B5EF4-FFF2-40B4-BE49-F238E27FC236}">
                <a16:creationId xmlns:a16="http://schemas.microsoft.com/office/drawing/2014/main" id="{BC405A23-BFE0-47D3-A3DD-8486BB19DEE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07</a:t>
            </a:r>
          </a:p>
        </p:txBody>
      </p:sp>
    </p:spTree>
    <p:extLst>
      <p:ext uri="{BB962C8B-B14F-4D97-AF65-F5344CB8AC3E}">
        <p14:creationId xmlns:p14="http://schemas.microsoft.com/office/powerpoint/2010/main" val="1620453331"/>
      </p:ext>
    </p:extLst>
  </p:cSld>
</p:sld>
</file>

<file path=ppt/slides/slide8.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DA8CD5-AB42-472A-82F1-8211FC209E0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Average precision differences are modest</a:t>
            </a:r>
          </a:p>
        </p:txBody>
      </p:sp>
      <p:graphicFrame>
        <p:nvGraphicFramePr>
          <p:cNvPr id="2" name="">
            <a:extLst xmlns:a="http://schemas.openxmlformats.org/drawingml/2006/main">
              <a:ext uri="{FF2B5EF4-FFF2-40B4-BE49-F238E27FC236}">
                <a16:creationId xmlns:a16="http://schemas.microsoft.com/office/drawing/2014/main" id="{7AA8696C-C2FB-449F-B986-1F7613326F3C}"/>
              </a:ext>
            </a:extLst>
          </p:cNvPr>
          <p:cNvGraphicFramePr/>
          <p:nvPr/>
        </p:nvGraphicFramePr>
        <p:xfrm>
          <a:off xmlns:a="http://schemas.openxmlformats.org/drawingml/2006/main" x="685800" y="1752600"/>
          <a:ext xmlns:a="http://schemas.openxmlformats.org/drawingml/2006/main" cx="10820400" cy="4095750"/>
        </p:xfrm>
        <a:graphic xmlns:a="http://schemas.openxmlformats.org/drawingml/2006/main">
          <a:graphicData uri="http://schemas.openxmlformats.org/drawingml/2006/table">
            <a:tbl>
              <a:tblPr/>
              <a:tblGrid>
                <a:gridCol w="6096000"/>
                <a:gridCol w="2362200"/>
                <a:gridCol w="2362200"/>
              </a:tblGrid>
              <a:tr h="511969">
                <a:tc>
                  <a:txBody>
                    <a:bodyPr/>
                    <a:lstStyle/>
                    <a:p>
                      <a:r>
                        <a:rPr sz="1800" b="1">
                          <a:solidFill>
                            <a:srgbClr val="FFFFFF"/>
                          </a:solidFill>
                          <a:latin typeface="Arial"/>
                          <a:ea typeface="Arial"/>
                          <a:cs typeface="Arial"/>
                        </a:rPr>
                        <a:t>Model</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Mean AP</a:t>
                      </a:r>
                    </a:p>
                  </a:txBody>
                  <a:tcPr marL="91440" marR="91440" marT="45720" marB="45720">
                    <a:lnR w="0">
                      <a:noFill/>
                    </a:lnR>
                    <a:lnT w="0">
                      <a:noFill/>
                    </a:lnT>
                    <a:lnB w="0">
                      <a:noFill/>
                    </a:lnB>
                    <a:solidFill>
                      <a:srgbClr val="102C32"/>
                    </a:solidFill>
                  </a:tcPr>
                </a:tc>
                <a:tc>
                  <a:txBody>
                    <a:bodyPr/>
                    <a:lstStyle/>
                    <a:p>
                      <a:r>
                        <a:rPr sz="1800" b="1">
                          <a:solidFill>
                            <a:srgbClr val="FFFFFF"/>
                          </a:solidFill>
                          <a:latin typeface="Arial"/>
                          <a:ea typeface="Arial"/>
                          <a:cs typeface="Arial"/>
                        </a:rPr>
                        <a:t>Sample SD</a:t>
                      </a:r>
                    </a:p>
                  </a:txBody>
                  <a:tcPr marL="91440" marR="91440" marT="45720" marB="45720">
                    <a:lnR w="0">
                      <a:noFill/>
                    </a:lnR>
                    <a:lnT w="0">
                      <a:noFill/>
                    </a:lnT>
                    <a:lnB w="0">
                      <a:noFill/>
                    </a:lnB>
                    <a:solidFill>
                      <a:srgbClr val="102C32"/>
                    </a:solidFill>
                  </a:tcPr>
                </a:tc>
              </a:tr>
              <a:tr h="511969">
                <a:tc>
                  <a:txBody>
                    <a:bodyPr/>
                    <a:lstStyle/>
                    <a:p>
                      <a:r>
                        <a:rPr sz="1950" b="0">
                          <a:solidFill>
                            <a:srgbClr val="102C32"/>
                          </a:solidFill>
                          <a:latin typeface="Arial"/>
                          <a:ea typeface="Arial"/>
                          <a:cs typeface="Arial"/>
                        </a:rPr>
                        <a:t>Logistic regression</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0.4516</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0.0206</a:t>
                      </a:r>
                    </a:p>
                  </a:txBody>
                  <a:tcPr marL="91440" marR="91440" marT="45720" marB="45720">
                    <a:lnR w="0">
                      <a:noFill/>
                    </a:lnR>
                    <a:lnB w="0">
                      <a:noFill/>
                    </a:lnB>
                    <a:solidFill>
                      <a:srgbClr val="F7F6F2"/>
                    </a:solidFill>
                  </a:tcPr>
                </a:tc>
              </a:tr>
              <a:tr h="511969">
                <a:tc>
                  <a:txBody>
                    <a:bodyPr/>
                    <a:lstStyle/>
                    <a:p>
                      <a:r>
                        <a:rPr sz="1950" b="0">
                          <a:solidFill>
                            <a:srgbClr val="102C32"/>
                          </a:solidFill>
                          <a:latin typeface="Arial"/>
                          <a:ea typeface="Arial"/>
                          <a:cs typeface="Arial"/>
                        </a:rPr>
                        <a:t>Gradient boosting</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0.4855</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0.0233</a:t>
                      </a:r>
                    </a:p>
                  </a:txBody>
                  <a:tcPr marL="91440" marR="91440" marT="45720" marB="45720">
                    <a:lnR w="0">
                      <a:noFill/>
                    </a:lnR>
                    <a:lnB w="0">
                      <a:noFill/>
                    </a:lnB>
                    <a:solidFill>
                      <a:srgbClr val="EDF1ED"/>
                    </a:solidFill>
                  </a:tcPr>
                </a:tc>
              </a:tr>
              <a:tr h="511969">
                <a:tc>
                  <a:txBody>
                    <a:bodyPr/>
                    <a:lstStyle/>
                    <a:p>
                      <a:r>
                        <a:rPr sz="1950" b="0">
                          <a:solidFill>
                            <a:srgbClr val="102C32"/>
                          </a:solidFill>
                          <a:latin typeface="Arial"/>
                          <a:ea typeface="Arial"/>
                          <a:cs typeface="Arial"/>
                        </a:rPr>
                        <a:t>Isolation Forest</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0.3422</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0.0148</a:t>
                      </a:r>
                    </a:p>
                  </a:txBody>
                  <a:tcPr marL="91440" marR="91440" marT="45720" marB="45720">
                    <a:lnR w="0">
                      <a:noFill/>
                    </a:lnR>
                    <a:lnB w="0">
                      <a:noFill/>
                    </a:lnB>
                    <a:solidFill>
                      <a:srgbClr val="F7F6F2"/>
                    </a:solidFill>
                  </a:tcPr>
                </a:tc>
              </a:tr>
              <a:tr h="511969">
                <a:tc>
                  <a:txBody>
                    <a:bodyPr/>
                    <a:lstStyle/>
                    <a:p>
                      <a:r>
                        <a:rPr sz="1950" b="0">
                          <a:solidFill>
                            <a:srgbClr val="102C32"/>
                          </a:solidFill>
                          <a:latin typeface="Arial"/>
                          <a:ea typeface="Arial"/>
                          <a:cs typeface="Arial"/>
                        </a:rPr>
                        <a:t>No-edge MLP</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0.4942</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0.0266</a:t>
                      </a:r>
                    </a:p>
                  </a:txBody>
                  <a:tcPr marL="91440" marR="91440" marT="45720" marB="45720">
                    <a:lnR w="0">
                      <a:noFill/>
                    </a:lnR>
                    <a:lnB w="0">
                      <a:noFill/>
                    </a:lnB>
                    <a:solidFill>
                      <a:srgbClr val="EDF1ED"/>
                    </a:solidFill>
                  </a:tcPr>
                </a:tc>
              </a:tr>
              <a:tr h="511969">
                <a:tc>
                  <a:txBody>
                    <a:bodyPr/>
                    <a:lstStyle/>
                    <a:p>
                      <a:r>
                        <a:rPr sz="1950" b="0">
                          <a:solidFill>
                            <a:srgbClr val="102C32"/>
                          </a:solidFill>
                          <a:latin typeface="Arial"/>
                          <a:ea typeface="Arial"/>
                          <a:cs typeface="Arial"/>
                        </a:rPr>
                        <a:t>Relational GraphSAGE</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0.4974</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0.0235</a:t>
                      </a:r>
                    </a:p>
                  </a:txBody>
                  <a:tcPr marL="91440" marR="91440" marT="45720" marB="45720">
                    <a:lnR w="0">
                      <a:noFill/>
                    </a:lnR>
                    <a:lnB w="0">
                      <a:noFill/>
                    </a:lnB>
                    <a:solidFill>
                      <a:srgbClr val="F7F6F2"/>
                    </a:solidFill>
                  </a:tcPr>
                </a:tc>
              </a:tr>
              <a:tr h="511969">
                <a:tc>
                  <a:txBody>
                    <a:bodyPr/>
                    <a:lstStyle/>
                    <a:p>
                      <a:r>
                        <a:rPr sz="1950" b="0">
                          <a:solidFill>
                            <a:srgbClr val="102C32"/>
                          </a:solidFill>
                          <a:latin typeface="Arial"/>
                          <a:ea typeface="Arial"/>
                          <a:cs typeface="Arial"/>
                        </a:rPr>
                        <a:t>Temporal attention</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0.4929</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0.0268</a:t>
                      </a:r>
                    </a:p>
                  </a:txBody>
                  <a:tcPr marL="91440" marR="91440" marT="45720" marB="45720">
                    <a:lnR w="0">
                      <a:noFill/>
                    </a:lnR>
                    <a:lnB w="0">
                      <a:noFill/>
                    </a:lnB>
                    <a:solidFill>
                      <a:srgbClr val="EDF1ED"/>
                    </a:solidFill>
                  </a:tcPr>
                </a:tc>
              </a:tr>
              <a:tr h="511969">
                <a:tc>
                  <a:txBody>
                    <a:bodyPr/>
                    <a:lstStyle/>
                    <a:p>
                      <a:r>
                        <a:rPr sz="1950" b="0">
                          <a:solidFill>
                            <a:srgbClr val="102C32"/>
                          </a:solidFill>
                          <a:latin typeface="Arial"/>
                          <a:ea typeface="Arial"/>
                          <a:cs typeface="Arial"/>
                        </a:rPr>
                        <a:t>Risk-gated attention</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0.4941</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0.0251</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B99F60E5-CFB2-41F7-AB7C-6EA20EE530C9}"/>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Three synthetic seeds. Sample standard deviation describes seed variation and is not a confidence interval.</a:t>
            </a:r>
          </a:p>
        </p:txBody>
      </p:sp>
      <p:sp>
        <p:nvSpPr>
          <p:cNvPr id="4" name="page">
            <a:extLst xmlns:a="http://schemas.openxmlformats.org/drawingml/2006/main">
              <a:ext uri="{FF2B5EF4-FFF2-40B4-BE49-F238E27FC236}">
                <a16:creationId xmlns:a16="http://schemas.microsoft.com/office/drawing/2014/main" id="{F7926425-9D21-44B4-AEAC-76C33B6C8559}"/>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08</a:t>
            </a:r>
          </a:p>
        </p:txBody>
      </p:sp>
    </p:spTree>
    <p:extLst>
      <p:ext uri="{BB962C8B-B14F-4D97-AF65-F5344CB8AC3E}">
        <p14:creationId xmlns:p14="http://schemas.microsoft.com/office/powerpoint/2010/main" val="1215678611"/>
      </p:ext>
    </p:extLst>
  </p:cSld>
</p:sld>
</file>

<file path=ppt/slides/slide9.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6D35A7-0035-49E6-B35C-36812CCB008D}"/>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Simpler models win the validation cost rule</a:t>
            </a:r>
          </a:p>
        </p:txBody>
      </p:sp>
      <p:graphicFrame>
        <p:nvGraphicFramePr>
          <p:cNvPr id="2" name="">
            <a:extLst xmlns:a="http://schemas.openxmlformats.org/drawingml/2006/main">
              <a:ext uri="{FF2B5EF4-FFF2-40B4-BE49-F238E27FC236}">
                <a16:creationId xmlns:a16="http://schemas.microsoft.com/office/drawing/2014/main" id="{93CE69F5-3EE0-4211-9612-9B26BC91E107}"/>
              </a:ext>
            </a:extLst>
          </p:cNvPr>
          <p:cNvGraphicFramePr/>
          <p:nvPr/>
        </p:nvGraphicFramePr>
        <p:xfrm>
          <a:off xmlns:a="http://schemas.openxmlformats.org/drawingml/2006/main" x="685800" y="1752600"/>
          <a:ext xmlns:a="http://schemas.openxmlformats.org/drawingml/2006/main" cx="10820400" cy="2667000"/>
        </p:xfrm>
        <a:graphic xmlns:a="http://schemas.openxmlformats.org/drawingml/2006/main">
          <a:graphicData uri="http://schemas.openxmlformats.org/drawingml/2006/table">
            <a:tbl>
              <a:tblPr/>
              <a:tblGrid>
                <a:gridCol w="1524000"/>
                <a:gridCol w="4648200"/>
                <a:gridCol w="4648200"/>
              </a:tblGrid>
              <a:tr h="666750">
                <a:tc>
                  <a:txBody>
                    <a:bodyPr/>
                    <a:lstStyle/>
                    <a:p>
                      <a:r>
                        <a:rPr sz="1800" b="1">
                          <a:solidFill>
                            <a:srgbClr val="FFFFFF"/>
                          </a:solidFill>
                          <a:latin typeface="Arial"/>
                          <a:ea typeface="Arial"/>
                          <a:cs typeface="Arial"/>
                        </a:rPr>
                        <a:t>Seed</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Overall selected model</a:t>
                      </a:r>
                    </a:p>
                  </a:txBody>
                  <a:tcPr marL="91440" marR="91440" marT="45720" marB="45720">
                    <a:lnR w="0">
                      <a:noFill/>
                    </a:lnR>
                    <a:lnT w="0">
                      <a:noFill/>
                    </a:lnT>
                    <a:lnB w="0">
                      <a:noFill/>
                    </a:lnB>
                    <a:solidFill>
                      <a:srgbClr val="102C32"/>
                    </a:solidFill>
                  </a:tcPr>
                </a:tc>
                <a:tc>
                  <a:txBody>
                    <a:bodyPr/>
                    <a:lstStyle/>
                    <a:p>
                      <a:r>
                        <a:rPr sz="1800" b="1">
                          <a:solidFill>
                            <a:srgbClr val="FFFFFF"/>
                          </a:solidFill>
                          <a:latin typeface="Arial"/>
                          <a:ea typeface="Arial"/>
                          <a:cs typeface="Arial"/>
                        </a:rPr>
                        <a:t>Graph-only selection</a:t>
                      </a:r>
                    </a:p>
                  </a:txBody>
                  <a:tcPr marL="91440" marR="91440" marT="45720" marB="45720">
                    <a:lnR w="0">
                      <a:noFill/>
                    </a:lnR>
                    <a:lnT w="0">
                      <a:noFill/>
                    </a:lnT>
                    <a:lnB w="0">
                      <a:noFill/>
                    </a:lnB>
                    <a:solidFill>
                      <a:srgbClr val="102C32"/>
                    </a:solidFill>
                  </a:tcPr>
                </a:tc>
              </a:tr>
              <a:tr h="666750">
                <a:tc>
                  <a:txBody>
                    <a:bodyPr/>
                    <a:lstStyle/>
                    <a:p>
                      <a:r>
                        <a:rPr sz="1950" b="0">
                          <a:solidFill>
                            <a:srgbClr val="102C32"/>
                          </a:solidFill>
                          <a:latin typeface="Arial"/>
                          <a:ea typeface="Arial"/>
                          <a:cs typeface="Arial"/>
                        </a:rPr>
                        <a:t>42</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No-edge MLP</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Temporal attention</a:t>
                      </a:r>
                    </a:p>
                  </a:txBody>
                  <a:tcPr marL="91440" marR="91440" marT="45720" marB="45720">
                    <a:lnR w="0">
                      <a:noFill/>
                    </a:lnR>
                    <a:lnB w="0">
                      <a:noFill/>
                    </a:lnB>
                    <a:solidFill>
                      <a:srgbClr val="F7F6F2"/>
                    </a:solidFill>
                  </a:tcPr>
                </a:tc>
              </a:tr>
              <a:tr h="666750">
                <a:tc>
                  <a:txBody>
                    <a:bodyPr/>
                    <a:lstStyle/>
                    <a:p>
                      <a:r>
                        <a:rPr sz="1950" b="0">
                          <a:solidFill>
                            <a:srgbClr val="102C32"/>
                          </a:solidFill>
                          <a:latin typeface="Arial"/>
                          <a:ea typeface="Arial"/>
                          <a:cs typeface="Arial"/>
                        </a:rPr>
                        <a:t>73</a:t>
                      </a:r>
                    </a:p>
                  </a:txBody>
                  <a:tcPr marL="91440" marR="91440" marT="45720" marB="45720">
                    <a:lnL w="0">
                      <a:noFill/>
                    </a:lnL>
                    <a:lnR w="0">
                      <a:noFill/>
                    </a:lnR>
                    <a:lnB w="0">
                      <a:noFill/>
                    </a:lnB>
                    <a:solidFill>
                      <a:srgbClr val="EDF1ED"/>
                    </a:solidFill>
                  </a:tcPr>
                </a:tc>
                <a:tc>
                  <a:txBody>
                    <a:bodyPr/>
                    <a:lstStyle/>
                    <a:p>
                      <a:r>
                        <a:rPr sz="1950" b="0">
                          <a:solidFill>
                            <a:srgbClr val="102C32"/>
                          </a:solidFill>
                          <a:latin typeface="Arial"/>
                          <a:ea typeface="Arial"/>
                          <a:cs typeface="Arial"/>
                        </a:rPr>
                        <a:t>No-edge MLP</a:t>
                      </a:r>
                    </a:p>
                  </a:txBody>
                  <a:tcPr marL="91440" marR="91440" marT="45720" marB="45720">
                    <a:lnR w="0">
                      <a:noFill/>
                    </a:lnR>
                    <a:lnB w="0">
                      <a:noFill/>
                    </a:lnB>
                    <a:solidFill>
                      <a:srgbClr val="EDF1ED"/>
                    </a:solidFill>
                  </a:tcPr>
                </a:tc>
                <a:tc>
                  <a:txBody>
                    <a:bodyPr/>
                    <a:lstStyle/>
                    <a:p>
                      <a:r>
                        <a:rPr sz="1950" b="0">
                          <a:solidFill>
                            <a:srgbClr val="102C32"/>
                          </a:solidFill>
                          <a:latin typeface="Arial"/>
                          <a:ea typeface="Arial"/>
                          <a:cs typeface="Arial"/>
                        </a:rPr>
                        <a:t>Temporal attention</a:t>
                      </a:r>
                    </a:p>
                  </a:txBody>
                  <a:tcPr marL="91440" marR="91440" marT="45720" marB="45720">
                    <a:lnR w="0">
                      <a:noFill/>
                    </a:lnR>
                    <a:lnB w="0">
                      <a:noFill/>
                    </a:lnB>
                    <a:solidFill>
                      <a:srgbClr val="EDF1ED"/>
                    </a:solidFill>
                  </a:tcPr>
                </a:tc>
              </a:tr>
              <a:tr h="666750">
                <a:tc>
                  <a:txBody>
                    <a:bodyPr/>
                    <a:lstStyle/>
                    <a:p>
                      <a:r>
                        <a:rPr sz="1950" b="0">
                          <a:solidFill>
                            <a:srgbClr val="102C32"/>
                          </a:solidFill>
                          <a:latin typeface="Arial"/>
                          <a:ea typeface="Arial"/>
                          <a:cs typeface="Arial"/>
                        </a:rPr>
                        <a:t>101</a:t>
                      </a:r>
                    </a:p>
                  </a:txBody>
                  <a:tcPr marL="91440" marR="91440" marT="45720" marB="45720">
                    <a:lnL w="0">
                      <a:noFill/>
                    </a:lnL>
                    <a:lnR w="0">
                      <a:noFill/>
                    </a:lnR>
                    <a:lnB w="0">
                      <a:noFill/>
                    </a:lnB>
                    <a:solidFill>
                      <a:srgbClr val="F7F6F2"/>
                    </a:solidFill>
                  </a:tcPr>
                </a:tc>
                <a:tc>
                  <a:txBody>
                    <a:bodyPr/>
                    <a:lstStyle/>
                    <a:p>
                      <a:r>
                        <a:rPr sz="1950" b="0">
                          <a:solidFill>
                            <a:srgbClr val="102C32"/>
                          </a:solidFill>
                          <a:latin typeface="Arial"/>
                          <a:ea typeface="Arial"/>
                          <a:cs typeface="Arial"/>
                        </a:rPr>
                        <a:t>Gradient boosting</a:t>
                      </a:r>
                    </a:p>
                  </a:txBody>
                  <a:tcPr marL="91440" marR="91440" marT="45720" marB="45720">
                    <a:lnR w="0">
                      <a:noFill/>
                    </a:lnR>
                    <a:lnB w="0">
                      <a:noFill/>
                    </a:lnB>
                    <a:solidFill>
                      <a:srgbClr val="F7F6F2"/>
                    </a:solidFill>
                  </a:tcPr>
                </a:tc>
                <a:tc>
                  <a:txBody>
                    <a:bodyPr/>
                    <a:lstStyle/>
                    <a:p>
                      <a:r>
                        <a:rPr sz="1950" b="0">
                          <a:solidFill>
                            <a:srgbClr val="102C32"/>
                          </a:solidFill>
                          <a:latin typeface="Arial"/>
                          <a:ea typeface="Arial"/>
                          <a:cs typeface="Arial"/>
                        </a:rPr>
                        <a:t>Temporal attention</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3864C985-98F2-4076-9F28-F29ED6C53259}"/>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The live app retains the original calibrated logistic policy. GNN comparison remains in shadow mode.</a:t>
            </a:r>
          </a:p>
        </p:txBody>
      </p:sp>
      <p:sp>
        <p:nvSpPr>
          <p:cNvPr id="4" name="page">
            <a:extLst xmlns:a="http://schemas.openxmlformats.org/drawingml/2006/main">
              <a:ext uri="{FF2B5EF4-FFF2-40B4-BE49-F238E27FC236}">
                <a16:creationId xmlns:a16="http://schemas.microsoft.com/office/drawing/2014/main" id="{A145F9DE-F8FD-4CBA-87C2-A33681D63974}"/>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09</a:t>
            </a:r>
          </a:p>
        </p:txBody>
      </p:sp>
    </p:spTree>
    <p:extLst>
      <p:ext uri="{BB962C8B-B14F-4D97-AF65-F5344CB8AC3E}">
        <p14:creationId xmlns:p14="http://schemas.microsoft.com/office/powerpoint/2010/main" val="113235548"/>
      </p:ext>
    </p:extLst>
  </p:cSld>
</p:sld>
</file>

<file path=ppt/slides/slide10.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BD10BC-72CD-4722-8189-4B71E0C847E6}"/>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Structural stress measures decision sensitivity</a:t>
            </a:r>
          </a:p>
        </p:txBody>
      </p:sp>
      <p:graphicFrame>
        <p:nvGraphicFramePr>
          <p:cNvPr id="2" name="Chart">
            <a:extLst xmlns:a="http://schemas.openxmlformats.org/drawingml/2006/main">
              <a:ext uri="{FF2B5EF4-FFF2-40B4-BE49-F238E27FC236}">
                <a16:creationId xmlns:a16="http://schemas.microsoft.com/office/drawing/2014/main" id="{20490B03-6799-491C-B74A-A77E15FFF1D3}"/>
              </a:ext>
            </a:extLst>
          </p:cNvPr>
          <p:cNvGraphicFramePr/>
          <p:nvPr/>
        </p:nvGraphicFramePr>
        <p:xfrm>
          <a:off xmlns:a="http://schemas.openxmlformats.org/drawingml/2006/main" x="685800" y="1657350"/>
          <a:ext xmlns:a="http://schemas.openxmlformats.org/drawingml/2006/main" cx="10820400" cy="4114800"/>
        </p:xfrm>
        <a:graphic xmlns:a="http://schemas.openxmlformats.org/drawingml/2006/main">
          <a:graphicData uri="http://schemas.openxmlformats.org/drawingml/2006/chart">
            <c:chart xmlns:r="http://schemas.openxmlformats.org/officeDocument/2006/relationships" xmlns:c="http://schemas.openxmlformats.org/drawingml/2006/chart" r:id="R7687e0f8bc154e72"/>
          </a:graphicData>
        </a:graphic>
      </p:graphicFrame>
      <p:sp>
        <p:nvSpPr>
          <p:cNvPr id="3" name="note">
            <a:extLst xmlns:a="http://schemas.openxmlformats.org/drawingml/2006/main">
              <a:ext uri="{FF2B5EF4-FFF2-40B4-BE49-F238E27FC236}">
                <a16:creationId xmlns:a16="http://schemas.microsoft.com/office/drawing/2014/main" id="{BA0D99DF-F2EE-4331-9EFA-EC40EF8752B6}"/>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Historical three-seed chart means. Raw multi-seed stress files remain pending recovery. Weights and policy were frozen.</a:t>
            </a:r>
          </a:p>
        </p:txBody>
      </p:sp>
      <p:sp>
        <p:nvSpPr>
          <p:cNvPr id="4" name="page">
            <a:extLst xmlns:a="http://schemas.openxmlformats.org/drawingml/2006/main">
              <a:ext uri="{FF2B5EF4-FFF2-40B4-BE49-F238E27FC236}">
                <a16:creationId xmlns:a16="http://schemas.microsoft.com/office/drawing/2014/main" id="{80B41F3E-899B-4BA1-8572-88BE8666ADD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10</a:t>
            </a:r>
          </a:p>
        </p:txBody>
      </p:sp>
    </p:spTree>
    <p:extLst>
      <p:ext uri="{BB962C8B-B14F-4D97-AF65-F5344CB8AC3E}">
        <p14:creationId xmlns:p14="http://schemas.microsoft.com/office/powerpoint/2010/main" val="1611369820"/>
      </p:ext>
    </p:extLst>
  </p:cSld>
</p:sld>
</file>

<file path=ppt/slides/slide11.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74B3513-C792-4998-90C2-9F4C87D029D2}"/>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Serving reliability has executable evidence</a:t>
            </a:r>
          </a:p>
        </p:txBody>
      </p:sp>
      <p:sp>
        <p:nvSpPr>
          <p:cNvPr id="2" name="left-heading">
            <a:extLst xmlns:a="http://schemas.openxmlformats.org/drawingml/2006/main">
              <a:ext uri="{FF2B5EF4-FFF2-40B4-BE49-F238E27FC236}">
                <a16:creationId xmlns:a16="http://schemas.microsoft.com/office/drawing/2014/main" id="{FA4F7BA3-37F1-4FB2-9B6B-08081CBA2834}"/>
              </a:ext>
            </a:extLst>
          </p:cNvPr>
          <p:cNvSpPr>
            <a:spLocks xmlns:a="http://schemas.openxmlformats.org/drawingml/2006/main" noGrp="1"/>
          </p:cNvSpPr>
          <p:nvPr/>
        </p:nvSpPr>
        <p:spPr>
          <a:xfrm xmlns:a="http://schemas.openxmlformats.org/drawingml/2006/main">
            <a:off x="7239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State invariants</a:t>
            </a:r>
          </a:p>
        </p:txBody>
      </p:sp>
      <p:sp>
        <p:nvSpPr>
          <p:cNvPr id="3" name="left-content">
            <a:extLst xmlns:a="http://schemas.openxmlformats.org/drawingml/2006/main">
              <a:ext uri="{FF2B5EF4-FFF2-40B4-BE49-F238E27FC236}">
                <a16:creationId xmlns:a16="http://schemas.microsoft.com/office/drawing/2014/main" id="{E30DB0CA-984C-49BD-B095-50B8F5900FCC}"/>
              </a:ext>
            </a:extLst>
          </p:cNvPr>
          <p:cNvSpPr>
            <a:spLocks xmlns:a="http://schemas.openxmlformats.org/drawingml/2006/main" noGrp="1"/>
          </p:cNvSpPr>
          <p:nvPr/>
        </p:nvSpPr>
        <p:spPr>
          <a:xfrm xmlns:a="http://schemas.openxmlformats.org/drawingml/2006/main">
            <a:off x="7239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Exact retries return the stored response.</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Conflicting payloads and stale reviews fail.</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Workspace ownership scopes every case.</a:t>
            </a:r>
          </a:p>
        </p:txBody>
      </p:sp>
      <p:sp>
        <p:nvSpPr>
          <p:cNvPr id="4" name="right-heading">
            <a:extLst xmlns:a="http://schemas.openxmlformats.org/drawingml/2006/main">
              <a:ext uri="{FF2B5EF4-FFF2-40B4-BE49-F238E27FC236}">
                <a16:creationId xmlns:a16="http://schemas.microsoft.com/office/drawing/2014/main" id="{D306C81F-A799-4D75-B20D-C5AD22B1C20C}"/>
              </a:ext>
            </a:extLst>
          </p:cNvPr>
          <p:cNvSpPr>
            <a:spLocks xmlns:a="http://schemas.openxmlformats.org/drawingml/2006/main" noGrp="1"/>
          </p:cNvSpPr>
          <p:nvPr/>
        </p:nvSpPr>
        <p:spPr>
          <a:xfrm xmlns:a="http://schemas.openxmlformats.org/drawingml/2006/main">
            <a:off x="64770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Model and audit checks</a:t>
            </a:r>
          </a:p>
        </p:txBody>
      </p:sp>
      <p:sp>
        <p:nvSpPr>
          <p:cNvPr id="5" name="right-content">
            <a:extLst xmlns:a="http://schemas.openxmlformats.org/drawingml/2006/main">
              <a:ext uri="{FF2B5EF4-FFF2-40B4-BE49-F238E27FC236}">
                <a16:creationId xmlns:a16="http://schemas.microsoft.com/office/drawing/2014/main" id="{BBF56B72-F131-49DE-B72B-9656E6253A30}"/>
              </a:ext>
            </a:extLst>
          </p:cNvPr>
          <p:cNvSpPr>
            <a:spLocks xmlns:a="http://schemas.openxmlformats.org/drawingml/2006/main" noGrp="1"/>
          </p:cNvSpPr>
          <p:nvPr/>
        </p:nvSpPr>
        <p:spPr>
          <a:xfrm xmlns:a="http://schemas.openxmlformats.org/drawingml/2006/main">
            <a:off x="64770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80 independent model fixtures</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48 raw-event replay cases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Maximum calibrated GNN error: 0.00000158</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Internal audit verification detects tested record changes.</a:t>
            </a:r>
          </a:p>
        </p:txBody>
      </p:sp>
      <p:sp>
        <p:nvSpPr>
          <p:cNvPr id="6" name="note">
            <a:extLst xmlns:a="http://schemas.openxmlformats.org/drawingml/2006/main">
              <a:ext uri="{FF2B5EF4-FFF2-40B4-BE49-F238E27FC236}">
                <a16:creationId xmlns:a16="http://schemas.microsoft.com/office/drawing/2014/main" id="{41B9F8A4-6BCA-453B-88B2-63EC293029D4}"/>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Fresh checks: 12 application tests. Mac Python research: 41 passed, one PyTorch module skipped.</a:t>
            </a:r>
          </a:p>
        </p:txBody>
      </p:sp>
      <p:sp>
        <p:nvSpPr>
          <p:cNvPr id="7" name="page">
            <a:extLst xmlns:a="http://schemas.openxmlformats.org/drawingml/2006/main">
              <a:ext uri="{FF2B5EF4-FFF2-40B4-BE49-F238E27FC236}">
                <a16:creationId xmlns:a16="http://schemas.microsoft.com/office/drawing/2014/main" id="{9763C2CB-A883-4994-90C7-3E2F80EC408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11</a:t>
            </a:r>
          </a:p>
        </p:txBody>
      </p:sp>
    </p:spTree>
    <p:extLst>
      <p:ext uri="{BB962C8B-B14F-4D97-AF65-F5344CB8AC3E}">
        <p14:creationId xmlns:p14="http://schemas.microsoft.com/office/powerpoint/2010/main" val="875434148"/>
      </p:ext>
    </p:extLst>
  </p:cSld>
</p:sld>
</file>

<file path=ppt/slides/slide12.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6BD004-9760-40E1-A398-C2F3CA1D3884}"/>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Three-minute employer demonstration</a:t>
            </a:r>
          </a:p>
        </p:txBody>
      </p:sp>
      <p:graphicFrame>
        <p:nvGraphicFramePr>
          <p:cNvPr id="2" name="">
            <a:extLst xmlns:a="http://schemas.openxmlformats.org/drawingml/2006/main">
              <a:ext uri="{FF2B5EF4-FFF2-40B4-BE49-F238E27FC236}">
                <a16:creationId xmlns:a16="http://schemas.microsoft.com/office/drawing/2014/main" id="{7706081F-0FBE-4836-BD1D-788FC37A26FE}"/>
              </a:ext>
            </a:extLst>
          </p:cNvPr>
          <p:cNvGraphicFramePr/>
          <p:nvPr/>
        </p:nvGraphicFramePr>
        <p:xfrm>
          <a:off xmlns:a="http://schemas.openxmlformats.org/drawingml/2006/main" x="685800" y="1752600"/>
          <a:ext xmlns:a="http://schemas.openxmlformats.org/drawingml/2006/main" cx="10820400" cy="4114800"/>
        </p:xfrm>
        <a:graphic xmlns:a="http://schemas.openxmlformats.org/drawingml/2006/main">
          <a:graphicData uri="http://schemas.openxmlformats.org/drawingml/2006/table">
            <a:tbl>
              <a:tblPr/>
              <a:tblGrid>
                <a:gridCol w="3714750"/>
                <a:gridCol w="7105650"/>
              </a:tblGrid>
              <a:tr h="685800">
                <a:tc>
                  <a:txBody>
                    <a:bodyPr/>
                    <a:lstStyle/>
                    <a:p>
                      <a:r>
                        <a:rPr sz="1800" b="1">
                          <a:solidFill>
                            <a:srgbClr val="FFFFFF"/>
                          </a:solidFill>
                          <a:latin typeface="Arial"/>
                          <a:ea typeface="Arial"/>
                          <a:cs typeface="Arial"/>
                        </a:rPr>
                        <a:t>Action</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Evidence to explain</a:t>
                      </a:r>
                    </a:p>
                  </a:txBody>
                  <a:tcPr marL="91440" marR="91440" marT="45720" marB="45720">
                    <a:lnR w="0">
                      <a:noFill/>
                    </a:lnR>
                    <a:lnT w="0">
                      <a:noFill/>
                    </a:lnT>
                    <a:lnB w="0">
                      <a:noFill/>
                    </a:lnB>
                    <a:solidFill>
                      <a:srgbClr val="102C32"/>
                    </a:solidFill>
                  </a:tcPr>
                </a:tc>
              </a:tr>
              <a:tr h="685800">
                <a:tc>
                  <a:txBody>
                    <a:bodyPr/>
                    <a:lstStyle/>
                    <a:p>
                      <a:r>
                        <a:rPr sz="1800" b="0">
                          <a:solidFill>
                            <a:srgbClr val="102C32"/>
                          </a:solidFill>
                          <a:latin typeface="Arial"/>
                          <a:ea typeface="Arial"/>
                          <a:cs typeface="Arial"/>
                        </a:rPr>
                        <a:t>Replay the synthetic feed</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24 persisted events and saved model decisions</a:t>
                      </a:r>
                    </a:p>
                  </a:txBody>
                  <a:tcPr marL="91440" marR="91440" marT="45720" marB="45720">
                    <a:lnR w="0">
                      <a:noFill/>
                    </a:lnR>
                    <a:lnB w="0">
                      <a:noFill/>
                    </a:lnB>
                    <a:solidFill>
                      <a:srgbClr val="F7F6F2"/>
                    </a:solidFill>
                  </a:tcPr>
                </a:tc>
              </a:tr>
              <a:tr h="685800">
                <a:tc>
                  <a:txBody>
                    <a:bodyPr/>
                    <a:lstStyle/>
                    <a:p>
                      <a:r>
                        <a:rPr sz="1800" b="0">
                          <a:solidFill>
                            <a:srgbClr val="102C32"/>
                          </a:solidFill>
                          <a:latin typeface="Arial"/>
                          <a:ea typeface="Arial"/>
                          <a:cs typeface="Arial"/>
                        </a:rPr>
                        <a:t>Open a case and its graph</a:t>
                      </a:r>
                    </a:p>
                  </a:txBody>
                  <a:tcPr marL="91440" marR="91440" marT="45720" marB="45720">
                    <a:lnL w="0">
                      <a:noFill/>
                    </a:lnL>
                    <a:lnR w="0">
                      <a:noFill/>
                    </a:lnR>
                    <a:lnB w="0">
                      <a:noFill/>
                    </a:lnB>
                    <a:solidFill>
                      <a:srgbClr val="EDF1ED"/>
                    </a:solidFill>
                  </a:tcPr>
                </a:tc>
                <a:tc>
                  <a:txBody>
                    <a:bodyPr/>
                    <a:lstStyle/>
                    <a:p>
                      <a:r>
                        <a:rPr sz="1800" b="0">
                          <a:solidFill>
                            <a:srgbClr val="102C32"/>
                          </a:solidFill>
                          <a:latin typeface="Arial"/>
                          <a:ea typeface="Arial"/>
                          <a:cs typeface="Arial"/>
                        </a:rPr>
                        <a:t>Only historical account/device neighbors</a:t>
                      </a:r>
                    </a:p>
                  </a:txBody>
                  <a:tcPr marL="91440" marR="91440" marT="45720" marB="45720">
                    <a:lnR w="0">
                      <a:noFill/>
                    </a:lnR>
                    <a:lnB w="0">
                      <a:noFill/>
                    </a:lnB>
                    <a:solidFill>
                      <a:srgbClr val="EDF1ED"/>
                    </a:solidFill>
                  </a:tcPr>
                </a:tc>
              </a:tr>
              <a:tr h="685800">
                <a:tc>
                  <a:txBody>
                    <a:bodyPr/>
                    <a:lstStyle/>
                    <a:p>
                      <a:r>
                        <a:rPr sz="1800" b="0">
                          <a:solidFill>
                            <a:srgbClr val="102C32"/>
                          </a:solidFill>
                          <a:latin typeface="Arial"/>
                          <a:ea typeface="Arial"/>
                          <a:cs typeface="Arial"/>
                        </a:rPr>
                        <a:t>Compare models and save a review</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Shadow scores, analyst notes and revision control</a:t>
                      </a:r>
                    </a:p>
                  </a:txBody>
                  <a:tcPr marL="91440" marR="91440" marT="45720" marB="45720">
                    <a:lnR w="0">
                      <a:noFill/>
                    </a:lnR>
                    <a:lnB w="0">
                      <a:noFill/>
                    </a:lnB>
                    <a:solidFill>
                      <a:srgbClr val="F7F6F2"/>
                    </a:solidFill>
                  </a:tcPr>
                </a:tc>
              </a:tr>
              <a:tr h="685800">
                <a:tc>
                  <a:txBody>
                    <a:bodyPr/>
                    <a:lstStyle/>
                    <a:p>
                      <a:r>
                        <a:rPr sz="1800" b="0">
                          <a:solidFill>
                            <a:srgbClr val="102C32"/>
                          </a:solidFill>
                          <a:latin typeface="Arial"/>
                          <a:ea typeface="Arial"/>
                          <a:cs typeface="Arial"/>
                        </a:rPr>
                        <a:t>Verify audit and export records</a:t>
                      </a:r>
                    </a:p>
                  </a:txBody>
                  <a:tcPr marL="91440" marR="91440" marT="45720" marB="45720">
                    <a:lnL w="0">
                      <a:noFill/>
                    </a:lnL>
                    <a:lnR w="0">
                      <a:noFill/>
                    </a:lnR>
                    <a:lnB w="0">
                      <a:noFill/>
                    </a:lnB>
                    <a:solidFill>
                      <a:srgbClr val="EDF1ED"/>
                    </a:solidFill>
                  </a:tcPr>
                </a:tc>
                <a:tc>
                  <a:txBody>
                    <a:bodyPr/>
                    <a:lstStyle/>
                    <a:p>
                      <a:r>
                        <a:rPr sz="1800" b="0">
                          <a:solidFill>
                            <a:srgbClr val="102C32"/>
                          </a:solidFill>
                          <a:latin typeface="Arial"/>
                          <a:ea typeface="Arial"/>
                          <a:cs typeface="Arial"/>
                        </a:rPr>
                        <a:t>Consistent case history and inspectable CSV</a:t>
                      </a:r>
                    </a:p>
                  </a:txBody>
                  <a:tcPr marL="91440" marR="91440" marT="45720" marB="45720">
                    <a:lnR w="0">
                      <a:noFill/>
                    </a:lnR>
                    <a:lnB w="0">
                      <a:noFill/>
                    </a:lnB>
                    <a:solidFill>
                      <a:srgbClr val="EDF1ED"/>
                    </a:solidFill>
                  </a:tcPr>
                </a:tc>
              </a:tr>
              <a:tr h="685800">
                <a:tc>
                  <a:txBody>
                    <a:bodyPr/>
                    <a:lstStyle/>
                    <a:p>
                      <a:r>
                        <a:rPr sz="1800" b="0">
                          <a:solidFill>
                            <a:srgbClr val="102C32"/>
                          </a:solidFill>
                          <a:latin typeface="Arial"/>
                          <a:ea typeface="Arial"/>
                          <a:cs typeface="Arial"/>
                        </a:rPr>
                        <a:t>Open the research dashboard</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Ranking gains, cost selection and stress limits</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7B8A4214-DDA7-4977-A1F7-D02FD6B51D98}"/>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Owner screen share for the private app. The local reviewer tour is the credential-free fallback.</a:t>
            </a:r>
          </a:p>
        </p:txBody>
      </p:sp>
      <p:sp>
        <p:nvSpPr>
          <p:cNvPr id="4" name="page">
            <a:extLst xmlns:a="http://schemas.openxmlformats.org/drawingml/2006/main">
              <a:ext uri="{FF2B5EF4-FFF2-40B4-BE49-F238E27FC236}">
                <a16:creationId xmlns:a16="http://schemas.microsoft.com/office/drawing/2014/main" id="{1414E583-4E89-4CFD-8F82-7A35942E8E7D}"/>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12</a:t>
            </a:r>
          </a:p>
        </p:txBody>
      </p:sp>
    </p:spTree>
    <p:extLst>
      <p:ext uri="{BB962C8B-B14F-4D97-AF65-F5344CB8AC3E}">
        <p14:creationId xmlns:p14="http://schemas.microsoft.com/office/powerpoint/2010/main" val="1228546105"/>
      </p:ext>
    </p:extLst>
  </p:cSld>
</p:sld>
</file>

<file path=ppt/slides/slide13.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3C038F-A408-4F4B-ABDB-8EB885F70D19}"/>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The path to real-data deployment</a:t>
            </a:r>
          </a:p>
        </p:txBody>
      </p:sp>
      <p:graphicFrame>
        <p:nvGraphicFramePr>
          <p:cNvPr id="2" name="">
            <a:extLst xmlns:a="http://schemas.openxmlformats.org/drawingml/2006/main">
              <a:ext uri="{FF2B5EF4-FFF2-40B4-BE49-F238E27FC236}">
                <a16:creationId xmlns:a16="http://schemas.microsoft.com/office/drawing/2014/main" id="{618229EC-F602-42F7-B142-F6D01543577C}"/>
              </a:ext>
            </a:extLst>
          </p:cNvPr>
          <p:cNvGraphicFramePr/>
          <p:nvPr/>
        </p:nvGraphicFramePr>
        <p:xfrm>
          <a:off xmlns:a="http://schemas.openxmlformats.org/drawingml/2006/main" x="685800" y="1752600"/>
          <a:ext xmlns:a="http://schemas.openxmlformats.org/drawingml/2006/main" cx="10820400" cy="4114800"/>
        </p:xfrm>
        <a:graphic xmlns:a="http://schemas.openxmlformats.org/drawingml/2006/main">
          <a:graphicData uri="http://schemas.openxmlformats.org/drawingml/2006/table">
            <a:tbl>
              <a:tblPr/>
              <a:tblGrid>
                <a:gridCol w="3143250"/>
                <a:gridCol w="7677150"/>
              </a:tblGrid>
              <a:tr h="685800">
                <a:tc>
                  <a:txBody>
                    <a:bodyPr/>
                    <a:lstStyle/>
                    <a:p>
                      <a:r>
                        <a:rPr sz="1800" b="1">
                          <a:solidFill>
                            <a:srgbClr val="FFFFFF"/>
                          </a:solidFill>
                          <a:latin typeface="Arial"/>
                          <a:ea typeface="Arial"/>
                          <a:cs typeface="Arial"/>
                        </a:rPr>
                        <a:t>Gate</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Required evidence</a:t>
                      </a:r>
                    </a:p>
                  </a:txBody>
                  <a:tcPr marL="91440" marR="91440" marT="45720" marB="45720">
                    <a:lnR w="0">
                      <a:noFill/>
                    </a:lnR>
                    <a:lnT w="0">
                      <a:noFill/>
                    </a:lnT>
                    <a:lnB w="0">
                      <a:noFill/>
                    </a:lnB>
                    <a:solidFill>
                      <a:srgbClr val="102C32"/>
                    </a:solidFill>
                  </a:tcPr>
                </a:tc>
              </a:tr>
              <a:tr h="685800">
                <a:tc>
                  <a:txBody>
                    <a:bodyPr/>
                    <a:lstStyle/>
                    <a:p>
                      <a:r>
                        <a:rPr sz="1800" b="0">
                          <a:solidFill>
                            <a:srgbClr val="102C32"/>
                          </a:solidFill>
                          <a:latin typeface="Arial"/>
                          <a:ea typeface="Arial"/>
                          <a:cs typeface="Arial"/>
                        </a:rPr>
                        <a:t>Data authorization</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Permitted IEEE-CIS inputs and documented data lineage</a:t>
                      </a:r>
                    </a:p>
                  </a:txBody>
                  <a:tcPr marL="91440" marR="91440" marT="45720" marB="45720">
                    <a:lnR w="0">
                      <a:noFill/>
                    </a:lnR>
                    <a:lnB w="0">
                      <a:noFill/>
                    </a:lnB>
                    <a:solidFill>
                      <a:srgbClr val="F7F6F2"/>
                    </a:solidFill>
                  </a:tcPr>
                </a:tc>
              </a:tr>
              <a:tr h="685800">
                <a:tc>
                  <a:txBody>
                    <a:bodyPr/>
                    <a:lstStyle/>
                    <a:p>
                      <a:r>
                        <a:rPr sz="1800" b="0">
                          <a:solidFill>
                            <a:srgbClr val="102C32"/>
                          </a:solidFill>
                          <a:latin typeface="Arial"/>
                          <a:ea typeface="Arial"/>
                          <a:cs typeface="Arial"/>
                        </a:rPr>
                        <a:t>Feature validity</a:t>
                      </a:r>
                    </a:p>
                  </a:txBody>
                  <a:tcPr marL="91440" marR="91440" marT="45720" marB="45720">
                    <a:lnL w="0">
                      <a:noFill/>
                    </a:lnL>
                    <a:lnR w="0">
                      <a:noFill/>
                    </a:lnR>
                    <a:lnB w="0">
                      <a:noFill/>
                    </a:lnB>
                    <a:solidFill>
                      <a:srgbClr val="EDF1ED"/>
                    </a:solidFill>
                  </a:tcPr>
                </a:tc>
                <a:tc>
                  <a:txBody>
                    <a:bodyPr/>
                    <a:lstStyle/>
                    <a:p>
                      <a:r>
                        <a:rPr sz="1800" b="0">
                          <a:solidFill>
                            <a:srgbClr val="102C32"/>
                          </a:solidFill>
                          <a:latin typeface="Arial"/>
                          <a:ea typeface="Arial"/>
                          <a:cs typeface="Arial"/>
                        </a:rPr>
                        <a:t>Entity proxy quality, availability at scoring time, label delay</a:t>
                      </a:r>
                    </a:p>
                  </a:txBody>
                  <a:tcPr marL="91440" marR="91440" marT="45720" marB="45720">
                    <a:lnR w="0">
                      <a:noFill/>
                    </a:lnR>
                    <a:lnB w="0">
                      <a:noFill/>
                    </a:lnB>
                    <a:solidFill>
                      <a:srgbClr val="EDF1ED"/>
                    </a:solidFill>
                  </a:tcPr>
                </a:tc>
              </a:tr>
              <a:tr h="685800">
                <a:tc>
                  <a:txBody>
                    <a:bodyPr/>
                    <a:lstStyle/>
                    <a:p>
                      <a:r>
                        <a:rPr sz="1800" b="0">
                          <a:solidFill>
                            <a:srgbClr val="102C32"/>
                          </a:solidFill>
                          <a:latin typeface="Arial"/>
                          <a:ea typeface="Arial"/>
                          <a:cs typeface="Arial"/>
                        </a:rPr>
                        <a:t>Model evaluation</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Frozen temporal protocol, calibration, subgroup and cost analysis</a:t>
                      </a:r>
                    </a:p>
                  </a:txBody>
                  <a:tcPr marL="91440" marR="91440" marT="45720" marB="45720">
                    <a:lnR w="0">
                      <a:noFill/>
                    </a:lnR>
                    <a:lnB w="0">
                      <a:noFill/>
                    </a:lnB>
                    <a:solidFill>
                      <a:srgbClr val="F7F6F2"/>
                    </a:solidFill>
                  </a:tcPr>
                </a:tc>
              </a:tr>
              <a:tr h="685800">
                <a:tc>
                  <a:txBody>
                    <a:bodyPr/>
                    <a:lstStyle/>
                    <a:p>
                      <a:r>
                        <a:rPr sz="1800" b="0">
                          <a:solidFill>
                            <a:srgbClr val="102C32"/>
                          </a:solidFill>
                          <a:latin typeface="Arial"/>
                          <a:ea typeface="Arial"/>
                          <a:cs typeface="Arial"/>
                        </a:rPr>
                        <a:t>Operational readiness</a:t>
                      </a:r>
                    </a:p>
                  </a:txBody>
                  <a:tcPr marL="91440" marR="91440" marT="45720" marB="45720">
                    <a:lnL w="0">
                      <a:noFill/>
                    </a:lnL>
                    <a:lnR w="0">
                      <a:noFill/>
                    </a:lnR>
                    <a:lnB w="0">
                      <a:noFill/>
                    </a:lnB>
                    <a:solidFill>
                      <a:srgbClr val="EDF1ED"/>
                    </a:solidFill>
                  </a:tcPr>
                </a:tc>
                <a:tc>
                  <a:txBody>
                    <a:bodyPr/>
                    <a:lstStyle/>
                    <a:p>
                      <a:r>
                        <a:rPr sz="1800" b="0">
                          <a:solidFill>
                            <a:srgbClr val="102C32"/>
                          </a:solidFill>
                          <a:latin typeface="Arial"/>
                          <a:ea typeface="Arial"/>
                          <a:cs typeface="Arial"/>
                        </a:rPr>
                        <a:t>Target-scale load, recovery drill, monitoring and accountable owners</a:t>
                      </a:r>
                    </a:p>
                  </a:txBody>
                  <a:tcPr marL="91440" marR="91440" marT="45720" marB="45720">
                    <a:lnR w="0">
                      <a:noFill/>
                    </a:lnR>
                    <a:lnB w="0">
                      <a:noFill/>
                    </a:lnB>
                    <a:solidFill>
                      <a:srgbClr val="EDF1ED"/>
                    </a:solidFill>
                  </a:tcPr>
                </a:tc>
              </a:tr>
              <a:tr h="685800">
                <a:tc>
                  <a:txBody>
                    <a:bodyPr/>
                    <a:lstStyle/>
                    <a:p>
                      <a:r>
                        <a:rPr sz="1800" b="0">
                          <a:solidFill>
                            <a:srgbClr val="102C32"/>
                          </a:solidFill>
                          <a:latin typeface="Arial"/>
                          <a:ea typeface="Arial"/>
                          <a:cs typeface="Arial"/>
                        </a:rPr>
                        <a:t>Release approval</a:t>
                      </a:r>
                    </a:p>
                  </a:txBody>
                  <a:tcPr marL="91440" marR="91440" marT="45720" marB="45720">
                    <a:lnL w="0">
                      <a:noFill/>
                    </a:lnL>
                    <a:lnR w="0">
                      <a:noFill/>
                    </a:lnR>
                    <a:lnB w="0">
                      <a:noFill/>
                    </a:lnB>
                    <a:solidFill>
                      <a:srgbClr val="F7F6F2"/>
                    </a:solidFill>
                  </a:tcPr>
                </a:tc>
                <a:tc>
                  <a:txBody>
                    <a:bodyPr/>
                    <a:lstStyle/>
                    <a:p>
                      <a:r>
                        <a:rPr sz="1800" b="0">
                          <a:solidFill>
                            <a:srgbClr val="102C32"/>
                          </a:solidFill>
                          <a:latin typeface="Arial"/>
                          <a:ea typeface="Arial"/>
                          <a:cs typeface="Arial"/>
                        </a:rPr>
                        <a:t>Independent security and model-risk review, controlled rollout</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98C6088F-DAC3-4003-89E9-79DB912F33DA}"/>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Real IEEE-CIS benchmarking has not run. No payments are connected or automatically blocked.</a:t>
            </a:r>
          </a:p>
        </p:txBody>
      </p:sp>
      <p:sp>
        <p:nvSpPr>
          <p:cNvPr id="4" name="page">
            <a:extLst xmlns:a="http://schemas.openxmlformats.org/drawingml/2006/main">
              <a:ext uri="{FF2B5EF4-FFF2-40B4-BE49-F238E27FC236}">
                <a16:creationId xmlns:a16="http://schemas.microsoft.com/office/drawing/2014/main" id="{609849AF-71B9-4447-B128-84B401BC194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13</a:t>
            </a:r>
          </a:p>
        </p:txBody>
      </p:sp>
    </p:spTree>
    <p:extLst>
      <p:ext uri="{BB962C8B-B14F-4D97-AF65-F5344CB8AC3E}">
        <p14:creationId xmlns:p14="http://schemas.microsoft.com/office/powerpoint/2010/main" val="149718251"/>
      </p:ext>
    </p:extLst>
  </p:cSld>
</p:sld>
</file>

<file path=ppt/slides/slide14.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5A5BE84-2B7B-4237-A9B3-39C6C46DBD50}"/>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Research judgment and engineering ownership</a:t>
            </a:r>
          </a:p>
        </p:txBody>
      </p:sp>
      <p:sp>
        <p:nvSpPr>
          <p:cNvPr id="2" name="left-heading">
            <a:extLst xmlns:a="http://schemas.openxmlformats.org/drawingml/2006/main">
              <a:ext uri="{FF2B5EF4-FFF2-40B4-BE49-F238E27FC236}">
                <a16:creationId xmlns:a16="http://schemas.microsoft.com/office/drawing/2014/main" id="{73E442C2-1152-40B8-82B5-1AC7F5AE5A63}"/>
              </a:ext>
            </a:extLst>
          </p:cNvPr>
          <p:cNvSpPr>
            <a:spLocks xmlns:a="http://schemas.openxmlformats.org/drawingml/2006/main" noGrp="1"/>
          </p:cNvSpPr>
          <p:nvPr/>
        </p:nvSpPr>
        <p:spPr>
          <a:xfrm xmlns:a="http://schemas.openxmlformats.org/drawingml/2006/main">
            <a:off x="7239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What I can demonstrate</a:t>
            </a:r>
          </a:p>
        </p:txBody>
      </p:sp>
      <p:sp>
        <p:nvSpPr>
          <p:cNvPr id="3" name="left-content">
            <a:extLst xmlns:a="http://schemas.openxmlformats.org/drawingml/2006/main">
              <a:ext uri="{FF2B5EF4-FFF2-40B4-BE49-F238E27FC236}">
                <a16:creationId xmlns:a16="http://schemas.microsoft.com/office/drawing/2014/main" id="{A6ED64FD-DF24-441F-BA94-71C6D55548BC}"/>
              </a:ext>
            </a:extLst>
          </p:cNvPr>
          <p:cNvSpPr>
            <a:spLocks xmlns:a="http://schemas.openxmlformats.org/drawingml/2006/main" noGrp="1"/>
          </p:cNvSpPr>
          <p:nvPr/>
        </p:nvSpPr>
        <p:spPr>
          <a:xfrm xmlns:a="http://schemas.openxmlformats.org/drawingml/2006/main">
            <a:off x="7239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Explain causal graph construction and leakage controls.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Reproduce model comparisons and defend selection tradeoffs.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Trace an event through scoring, review and audit.</a:t>
            </a:r>
          </a:p>
        </p:txBody>
      </p:sp>
      <p:sp>
        <p:nvSpPr>
          <p:cNvPr id="4" name="right-heading">
            <a:extLst xmlns:a="http://schemas.openxmlformats.org/drawingml/2006/main">
              <a:ext uri="{FF2B5EF4-FFF2-40B4-BE49-F238E27FC236}">
                <a16:creationId xmlns:a16="http://schemas.microsoft.com/office/drawing/2014/main" id="{667FC312-3490-4270-9B7C-94D3EF0A2BAB}"/>
              </a:ext>
            </a:extLst>
          </p:cNvPr>
          <p:cNvSpPr>
            <a:spLocks xmlns:a="http://schemas.openxmlformats.org/drawingml/2006/main" noGrp="1"/>
          </p:cNvSpPr>
          <p:nvPr/>
        </p:nvSpPr>
        <p:spPr>
          <a:xfrm xmlns:a="http://schemas.openxmlformats.org/drawingml/2006/main">
            <a:off x="6477000" y="1828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1">
                <a:solidFill>
                  <a:srgbClr val="007F77"/>
                </a:solidFill>
                <a:latin typeface="Arial"/>
                <a:ea typeface="Arial"/>
                <a:cs typeface="Arial"/>
              </a:defRPr>
            </a:defPPr>
            <a:lvl1pPr algn="l">
              <a:defRPr sz="2325" b="1">
                <a:solidFill>
                  <a:srgbClr val="007F77"/>
                </a:solidFill>
                <a:latin typeface="Arial"/>
                <a:ea typeface="Arial"/>
                <a:cs typeface="Arial"/>
              </a:defRPr>
            </a:lvl1pPr>
            <a:lvl2pPr algn="l">
              <a:defRPr sz="2325" b="1">
                <a:solidFill>
                  <a:srgbClr val="007F77"/>
                </a:solidFill>
                <a:latin typeface="Arial"/>
                <a:ea typeface="Arial"/>
                <a:cs typeface="Arial"/>
              </a:defRPr>
            </a:lvl2pPr>
            <a:lvl3pPr algn="l">
              <a:defRPr sz="2325" b="1">
                <a:solidFill>
                  <a:srgbClr val="007F77"/>
                </a:solidFill>
                <a:latin typeface="Arial"/>
                <a:ea typeface="Arial"/>
                <a:cs typeface="Arial"/>
              </a:defRPr>
            </a:lvl3pPr>
            <a:lvl4pPr algn="l">
              <a:defRPr sz="2325" b="1">
                <a:solidFill>
                  <a:srgbClr val="007F77"/>
                </a:solidFill>
                <a:latin typeface="Arial"/>
                <a:ea typeface="Arial"/>
                <a:cs typeface="Arial"/>
              </a:defRPr>
            </a:lvl4pPr>
            <a:lvl5pPr algn="l">
              <a:defRPr sz="2325" b="1">
                <a:solidFill>
                  <a:srgbClr val="007F77"/>
                </a:solidFill>
                <a:latin typeface="Arial"/>
                <a:ea typeface="Arial"/>
                <a:cs typeface="Arial"/>
              </a:defRPr>
            </a:lvl5pPr>
            <a:lvl6pPr algn="l">
              <a:defRPr sz="2325" b="1">
                <a:solidFill>
                  <a:srgbClr val="007F77"/>
                </a:solidFill>
                <a:latin typeface="Arial"/>
                <a:ea typeface="Arial"/>
                <a:cs typeface="Arial"/>
              </a:defRPr>
            </a:lvl6pPr>
            <a:lvl7pPr algn="l">
              <a:defRPr sz="2325" b="1">
                <a:solidFill>
                  <a:srgbClr val="007F77"/>
                </a:solidFill>
                <a:latin typeface="Arial"/>
                <a:ea typeface="Arial"/>
                <a:cs typeface="Arial"/>
              </a:defRPr>
            </a:lvl7pPr>
            <a:lvl8pPr algn="l">
              <a:defRPr sz="2325" b="1">
                <a:solidFill>
                  <a:srgbClr val="007F77"/>
                </a:solidFill>
                <a:latin typeface="Arial"/>
                <a:ea typeface="Arial"/>
                <a:cs typeface="Arial"/>
              </a:defRPr>
            </a:lvl8pPr>
            <a:lvl9pPr algn="l">
              <a:defRPr sz="2325" b="1">
                <a:solidFill>
                  <a:srgbClr val="007F77"/>
                </a:solidFill>
                <a:latin typeface="Arial"/>
                <a:ea typeface="Arial"/>
                <a:cs typeface="Arial"/>
              </a:defRPr>
            </a:lvl9pPr>
          </a:lstStyle>
          <a:p xmlns:a="http://schemas.openxmlformats.org/drawingml/2006/main">
            <a:pPr algn="l">
              <a:defRPr sz="2325" b="1">
                <a:solidFill>
                  <a:srgbClr val="007F77"/>
                </a:solidFill>
                <a:latin typeface="Arial"/>
                <a:ea typeface="Arial"/>
                <a:cs typeface="Arial"/>
              </a:defRPr>
            </a:pPr>
            <a:r>
              <a:rPr sz="2325" b="1">
                <a:solidFill>
                  <a:srgbClr val="007F77"/>
                </a:solidFill>
                <a:latin typeface="Arial"/>
                <a:ea typeface="Arial"/>
                <a:cs typeface="Arial"/>
              </a:rPr>
              <a:t>What I would extend next</a:t>
            </a:r>
          </a:p>
        </p:txBody>
      </p:sp>
      <p:sp>
        <p:nvSpPr>
          <p:cNvPr id="5" name="right-content">
            <a:extLst xmlns:a="http://schemas.openxmlformats.org/drawingml/2006/main">
              <a:ext uri="{FF2B5EF4-FFF2-40B4-BE49-F238E27FC236}">
                <a16:creationId xmlns:a16="http://schemas.microsoft.com/office/drawing/2014/main" id="{572A4615-4100-424C-8B7E-9FC1DE05DC58}"/>
              </a:ext>
            </a:extLst>
          </p:cNvPr>
          <p:cNvSpPr>
            <a:spLocks xmlns:a="http://schemas.openxmlformats.org/drawingml/2006/main" noGrp="1"/>
          </p:cNvSpPr>
          <p:nvPr/>
        </p:nvSpPr>
        <p:spPr>
          <a:xfrm xmlns:a="http://schemas.openxmlformats.org/drawingml/2006/main">
            <a:off x="6477000" y="2552700"/>
            <a:ext cx="4810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a:solidFill>
                  <a:srgbClr val="102C32"/>
                </a:solidFill>
                <a:latin typeface="Arial"/>
                <a:ea typeface="Arial"/>
                <a:cs typeface="Arial"/>
              </a:defRPr>
            </a:defPPr>
            <a:lvl1pPr algn="l">
              <a:defRPr sz="2100">
                <a:solidFill>
                  <a:srgbClr val="102C32"/>
                </a:solidFill>
                <a:latin typeface="Arial"/>
                <a:ea typeface="Arial"/>
                <a:cs typeface="Arial"/>
              </a:defRPr>
            </a:lvl1pPr>
            <a:lvl2pPr algn="l">
              <a:defRPr sz="2100">
                <a:solidFill>
                  <a:srgbClr val="102C32"/>
                </a:solidFill>
                <a:latin typeface="Arial"/>
                <a:ea typeface="Arial"/>
                <a:cs typeface="Arial"/>
              </a:defRPr>
            </a:lvl2pPr>
            <a:lvl3pPr algn="l">
              <a:defRPr sz="2100">
                <a:solidFill>
                  <a:srgbClr val="102C32"/>
                </a:solidFill>
                <a:latin typeface="Arial"/>
                <a:ea typeface="Arial"/>
                <a:cs typeface="Arial"/>
              </a:defRPr>
            </a:lvl3pPr>
            <a:lvl4pPr algn="l">
              <a:defRPr sz="2100">
                <a:solidFill>
                  <a:srgbClr val="102C32"/>
                </a:solidFill>
                <a:latin typeface="Arial"/>
                <a:ea typeface="Arial"/>
                <a:cs typeface="Arial"/>
              </a:defRPr>
            </a:lvl4pPr>
            <a:lvl5pPr algn="l">
              <a:defRPr sz="2100">
                <a:solidFill>
                  <a:srgbClr val="102C32"/>
                </a:solidFill>
                <a:latin typeface="Arial"/>
                <a:ea typeface="Arial"/>
                <a:cs typeface="Arial"/>
              </a:defRPr>
            </a:lvl5pPr>
            <a:lvl6pPr algn="l">
              <a:defRPr sz="2100">
                <a:solidFill>
                  <a:srgbClr val="102C32"/>
                </a:solidFill>
                <a:latin typeface="Arial"/>
                <a:ea typeface="Arial"/>
                <a:cs typeface="Arial"/>
              </a:defRPr>
            </a:lvl6pPr>
            <a:lvl7pPr algn="l">
              <a:defRPr sz="2100">
                <a:solidFill>
                  <a:srgbClr val="102C32"/>
                </a:solidFill>
                <a:latin typeface="Arial"/>
                <a:ea typeface="Arial"/>
                <a:cs typeface="Arial"/>
              </a:defRPr>
            </a:lvl7pPr>
            <a:lvl8pPr algn="l">
              <a:defRPr sz="2100">
                <a:solidFill>
                  <a:srgbClr val="102C32"/>
                </a:solidFill>
                <a:latin typeface="Arial"/>
                <a:ea typeface="Arial"/>
                <a:cs typeface="Arial"/>
              </a:defRPr>
            </a:lvl8pPr>
            <a:lvl9pPr algn="l">
              <a:defRPr sz="2100">
                <a:solidFill>
                  <a:srgbClr val="102C32"/>
                </a:solidFill>
                <a:latin typeface="Arial"/>
                <a:ea typeface="Arial"/>
                <a:cs typeface="Arial"/>
              </a:defRPr>
            </a:lvl9pPr>
          </a:lstStyle>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Evaluate authorized real data.</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Measure graph gains against stronger tuned baselines.</a:t>
            </a:r>
          </a:p>
          <a:p xmlns:a="http://schemas.openxmlformats.org/drawingml/2006/main">
            <a:r>
              <a:t/>
            </a:r>
          </a:p>
          <a:p xmlns:a="http://schemas.openxmlformats.org/drawingml/2006/main">
            <a:pPr algn="l">
              <a:defRPr sz="2100">
                <a:solidFill>
                  <a:srgbClr val="102C32"/>
                </a:solidFill>
                <a:latin typeface="Arial"/>
                <a:ea typeface="Arial"/>
                <a:cs typeface="Arial"/>
              </a:defRPr>
            </a:pPr>
            <a:r>
              <a:rPr sz="2100">
                <a:solidFill>
                  <a:srgbClr val="102C32"/>
                </a:solidFill>
                <a:latin typeface="Arial"/>
                <a:ea typeface="Arial"/>
                <a:cs typeface="Arial"/>
              </a:rPr>
              <a:t>Study stability under realistic entity-link errors and drift.</a:t>
            </a:r>
          </a:p>
        </p:txBody>
      </p:sp>
      <p:sp>
        <p:nvSpPr>
          <p:cNvPr id="6" name="note">
            <a:extLst xmlns:a="http://schemas.openxmlformats.org/drawingml/2006/main">
              <a:ext uri="{FF2B5EF4-FFF2-40B4-BE49-F238E27FC236}">
                <a16:creationId xmlns:a16="http://schemas.microsoft.com/office/drawing/2014/main" id="{86DAF9D0-8B73-437A-814C-3DB82936E811}"/>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AI-assisted reference project. Present these capabilities after independently reproducing and mastering the code.</a:t>
            </a:r>
          </a:p>
        </p:txBody>
      </p:sp>
      <p:sp>
        <p:nvSpPr>
          <p:cNvPr id="7" name="page">
            <a:extLst xmlns:a="http://schemas.openxmlformats.org/drawingml/2006/main">
              <a:ext uri="{FF2B5EF4-FFF2-40B4-BE49-F238E27FC236}">
                <a16:creationId xmlns:a16="http://schemas.microsoft.com/office/drawing/2014/main" id="{634032DA-9EDE-4ECC-AC34-3673281AB5CF}"/>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14</a:t>
            </a:r>
          </a:p>
        </p:txBody>
      </p:sp>
    </p:spTree>
    <p:extLst>
      <p:ext uri="{BB962C8B-B14F-4D97-AF65-F5344CB8AC3E}">
        <p14:creationId xmlns:p14="http://schemas.microsoft.com/office/powerpoint/2010/main" val="489105337"/>
      </p:ext>
    </p:extLst>
  </p:cSld>
</p:sld>
</file>

<file path=ppt/slides/slide15.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5432EF-9FB0-411D-8EE3-8CD79FF900C2}"/>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Appendix: verification commands</a:t>
            </a:r>
          </a:p>
        </p:txBody>
      </p:sp>
      <p:graphicFrame>
        <p:nvGraphicFramePr>
          <p:cNvPr id="2" name="">
            <a:extLst xmlns:a="http://schemas.openxmlformats.org/drawingml/2006/main">
              <a:ext uri="{FF2B5EF4-FFF2-40B4-BE49-F238E27FC236}">
                <a16:creationId xmlns:a16="http://schemas.microsoft.com/office/drawing/2014/main" id="{D206EF88-E148-4903-92B1-9F1E52ECF2D6}"/>
              </a:ext>
            </a:extLst>
          </p:cNvPr>
          <p:cNvGraphicFramePr/>
          <p:nvPr/>
        </p:nvGraphicFramePr>
        <p:xfrm>
          <a:off xmlns:a="http://schemas.openxmlformats.org/drawingml/2006/main" x="685800" y="1752600"/>
          <a:ext xmlns:a="http://schemas.openxmlformats.org/drawingml/2006/main" cx="10820400" cy="3714750"/>
        </p:xfrm>
        <a:graphic xmlns:a="http://schemas.openxmlformats.org/drawingml/2006/main">
          <a:graphicData uri="http://schemas.openxmlformats.org/drawingml/2006/table">
            <a:tbl>
              <a:tblPr/>
              <a:tblGrid>
                <a:gridCol w="6286500"/>
                <a:gridCol w="4533900"/>
              </a:tblGrid>
              <a:tr h="619125">
                <a:tc>
                  <a:txBody>
                    <a:bodyPr/>
                    <a:lstStyle/>
                    <a:p>
                      <a:r>
                        <a:rPr sz="1800" b="1">
                          <a:solidFill>
                            <a:srgbClr val="FFFFFF"/>
                          </a:solidFill>
                          <a:latin typeface="Arial"/>
                          <a:ea typeface="Arial"/>
                          <a:cs typeface="Arial"/>
                        </a:rPr>
                        <a:t>From applications/workbench</a:t>
                      </a:r>
                    </a:p>
                  </a:txBody>
                  <a:tcPr marL="91440" marR="91440" marT="45720" marB="45720">
                    <a:lnL w="0">
                      <a:noFill/>
                    </a:lnL>
                    <a:lnR w="0">
                      <a:noFill/>
                    </a:lnR>
                    <a:lnT w="0">
                      <a:noFill/>
                    </a:lnT>
                    <a:lnB w="0">
                      <a:noFill/>
                    </a:lnB>
                    <a:solidFill>
                      <a:srgbClr val="102C32"/>
                    </a:solidFill>
                  </a:tcPr>
                </a:tc>
                <a:tc>
                  <a:txBody>
                    <a:bodyPr/>
                    <a:lstStyle/>
                    <a:p>
                      <a:r>
                        <a:rPr sz="1800" b="1">
                          <a:solidFill>
                            <a:srgbClr val="FFFFFF"/>
                          </a:solidFill>
                          <a:latin typeface="Arial"/>
                          <a:ea typeface="Arial"/>
                          <a:cs typeface="Arial"/>
                        </a:rPr>
                        <a:t>Expected evidence</a:t>
                      </a:r>
                    </a:p>
                  </a:txBody>
                  <a:tcPr marL="91440" marR="91440" marT="45720" marB="45720">
                    <a:lnR w="0">
                      <a:noFill/>
                    </a:lnR>
                    <a:lnT w="0">
                      <a:noFill/>
                    </a:lnT>
                    <a:lnB w="0">
                      <a:noFill/>
                    </a:lnB>
                    <a:solidFill>
                      <a:srgbClr val="102C32"/>
                    </a:solidFill>
                  </a:tcPr>
                </a:tc>
              </a:tr>
              <a:tr h="619125">
                <a:tc>
                  <a:txBody>
                    <a:bodyPr/>
                    <a:lstStyle/>
                    <a:p>
                      <a:r>
                        <a:rPr sz="1650" b="0">
                          <a:solidFill>
                            <a:srgbClr val="102C32"/>
                          </a:solidFill>
                          <a:latin typeface="Arial"/>
                          <a:ea typeface="Arial"/>
                          <a:cs typeface="Arial"/>
                        </a:rPr>
                        <a:t>pnpm install --frozen-lockfile</a:t>
                      </a:r>
                    </a:p>
                  </a:txBody>
                  <a:tcPr marL="91440" marR="91440" marT="45720" marB="45720">
                    <a:lnL w="0">
                      <a:noFill/>
                    </a:lnL>
                    <a:lnR w="0">
                      <a:noFill/>
                    </a:lnR>
                    <a:lnB w="0">
                      <a:noFill/>
                    </a:lnB>
                    <a:solidFill>
                      <a:srgbClr val="F7F6F2"/>
                    </a:solidFill>
                  </a:tcPr>
                </a:tc>
                <a:tc>
                  <a:txBody>
                    <a:bodyPr/>
                    <a:lstStyle/>
                    <a:p>
                      <a:r>
                        <a:rPr sz="1650" b="0">
                          <a:solidFill>
                            <a:srgbClr val="102C32"/>
                          </a:solidFill>
                          <a:latin typeface="Arial"/>
                          <a:ea typeface="Arial"/>
                          <a:cs typeface="Arial"/>
                        </a:rPr>
                        <a:t>Declared dependency set</a:t>
                      </a:r>
                    </a:p>
                  </a:txBody>
                  <a:tcPr marL="91440" marR="91440" marT="45720" marB="45720">
                    <a:lnR w="0">
                      <a:noFill/>
                    </a:lnR>
                    <a:lnB w="0">
                      <a:noFill/>
                    </a:lnB>
                    <a:solidFill>
                      <a:srgbClr val="F7F6F2"/>
                    </a:solidFill>
                  </a:tcPr>
                </a:tc>
              </a:tr>
              <a:tr h="619125">
                <a:tc>
                  <a:txBody>
                    <a:bodyPr/>
                    <a:lstStyle/>
                    <a:p>
                      <a:r>
                        <a:rPr sz="1650" b="0">
                          <a:solidFill>
                            <a:srgbClr val="102C32"/>
                          </a:solidFill>
                          <a:latin typeface="Arial"/>
                          <a:ea typeface="Arial"/>
                          <a:cs typeface="Arial"/>
                        </a:rPr>
                        <a:t>cp .openai/hosting.example.json .openai/hosting.json</a:t>
                      </a:r>
                    </a:p>
                  </a:txBody>
                  <a:tcPr marL="91440" marR="91440" marT="45720" marB="45720">
                    <a:lnL w="0">
                      <a:noFill/>
                    </a:lnL>
                    <a:lnR w="0">
                      <a:noFill/>
                    </a:lnR>
                    <a:lnB w="0">
                      <a:noFill/>
                    </a:lnB>
                    <a:solidFill>
                      <a:srgbClr val="EDF1ED"/>
                    </a:solidFill>
                  </a:tcPr>
                </a:tc>
                <a:tc>
                  <a:txBody>
                    <a:bodyPr/>
                    <a:lstStyle/>
                    <a:p>
                      <a:r>
                        <a:rPr sz="1650" b="0">
                          <a:solidFill>
                            <a:srgbClr val="102C32"/>
                          </a:solidFill>
                          <a:latin typeface="Arial"/>
                          <a:ea typeface="Arial"/>
                          <a:cs typeface="Arial"/>
                        </a:rPr>
                        <a:t>Local configuration without a Site ID</a:t>
                      </a:r>
                    </a:p>
                  </a:txBody>
                  <a:tcPr marL="91440" marR="91440" marT="45720" marB="45720">
                    <a:lnR w="0">
                      <a:noFill/>
                    </a:lnR>
                    <a:lnB w="0">
                      <a:noFill/>
                    </a:lnB>
                    <a:solidFill>
                      <a:srgbClr val="EDF1ED"/>
                    </a:solidFill>
                  </a:tcPr>
                </a:tc>
              </a:tr>
              <a:tr h="619125">
                <a:tc>
                  <a:txBody>
                    <a:bodyPr/>
                    <a:lstStyle/>
                    <a:p>
                      <a:r>
                        <a:rPr sz="1650" b="0">
                          <a:solidFill>
                            <a:srgbClr val="102C32"/>
                          </a:solidFill>
                          <a:latin typeface="Arial"/>
                          <a:ea typeface="Arial"/>
                          <a:cs typeface="Arial"/>
                        </a:rPr>
                        <a:t>pnpm test</a:t>
                      </a:r>
                    </a:p>
                  </a:txBody>
                  <a:tcPr marL="91440" marR="91440" marT="45720" marB="45720">
                    <a:lnL w="0">
                      <a:noFill/>
                    </a:lnL>
                    <a:lnR w="0">
                      <a:noFill/>
                    </a:lnR>
                    <a:lnB w="0">
                      <a:noFill/>
                    </a:lnB>
                    <a:solidFill>
                      <a:srgbClr val="F7F6F2"/>
                    </a:solidFill>
                  </a:tcPr>
                </a:tc>
                <a:tc>
                  <a:txBody>
                    <a:bodyPr/>
                    <a:lstStyle/>
                    <a:p>
                      <a:r>
                        <a:rPr sz="1650" b="0">
                          <a:solidFill>
                            <a:srgbClr val="102C32"/>
                          </a:solidFill>
                          <a:latin typeface="Arial"/>
                          <a:ea typeface="Arial"/>
                          <a:cs typeface="Arial"/>
                        </a:rPr>
                        <a:t>12 passing application tests</a:t>
                      </a:r>
                    </a:p>
                  </a:txBody>
                  <a:tcPr marL="91440" marR="91440" marT="45720" marB="45720">
                    <a:lnR w="0">
                      <a:noFill/>
                    </a:lnR>
                    <a:lnB w="0">
                      <a:noFill/>
                    </a:lnB>
                    <a:solidFill>
                      <a:srgbClr val="F7F6F2"/>
                    </a:solidFill>
                  </a:tcPr>
                </a:tc>
              </a:tr>
              <a:tr h="619125">
                <a:tc>
                  <a:txBody>
                    <a:bodyPr/>
                    <a:lstStyle/>
                    <a:p>
                      <a:r>
                        <a:rPr sz="1650" b="0">
                          <a:solidFill>
                            <a:srgbClr val="102C32"/>
                          </a:solidFill>
                          <a:latin typeface="Arial"/>
                          <a:ea typeface="Arial"/>
                          <a:cs typeface="Arial"/>
                        </a:rPr>
                        <a:t>pnpm run check</a:t>
                      </a:r>
                    </a:p>
                  </a:txBody>
                  <a:tcPr marL="91440" marR="91440" marT="45720" marB="45720">
                    <a:lnL w="0">
                      <a:noFill/>
                    </a:lnL>
                    <a:lnR w="0">
                      <a:noFill/>
                    </a:lnR>
                    <a:lnB w="0">
                      <a:noFill/>
                    </a:lnB>
                    <a:solidFill>
                      <a:srgbClr val="EDF1ED"/>
                    </a:solidFill>
                  </a:tcPr>
                </a:tc>
                <a:tc>
                  <a:txBody>
                    <a:bodyPr/>
                    <a:lstStyle/>
                    <a:p>
                      <a:r>
                        <a:rPr sz="1650" b="0">
                          <a:solidFill>
                            <a:srgbClr val="102C32"/>
                          </a:solidFill>
                          <a:latin typeface="Arial"/>
                          <a:ea typeface="Arial"/>
                          <a:cs typeface="Arial"/>
                        </a:rPr>
                        <a:t>TypeScript exits successfully</a:t>
                      </a:r>
                    </a:p>
                  </a:txBody>
                  <a:tcPr marL="91440" marR="91440" marT="45720" marB="45720">
                    <a:lnR w="0">
                      <a:noFill/>
                    </a:lnR>
                    <a:lnB w="0">
                      <a:noFill/>
                    </a:lnB>
                    <a:solidFill>
                      <a:srgbClr val="EDF1ED"/>
                    </a:solidFill>
                  </a:tcPr>
                </a:tc>
              </a:tr>
              <a:tr h="619125">
                <a:tc>
                  <a:txBody>
                    <a:bodyPr/>
                    <a:lstStyle/>
                    <a:p>
                      <a:r>
                        <a:rPr sz="1650" b="0">
                          <a:solidFill>
                            <a:srgbClr val="102C32"/>
                          </a:solidFill>
                          <a:latin typeface="Arial"/>
                          <a:ea typeface="Arial"/>
                          <a:cs typeface="Arial"/>
                        </a:rPr>
                        <a:t>pnpm run review:verify</a:t>
                      </a:r>
                    </a:p>
                  </a:txBody>
                  <a:tcPr marL="91440" marR="91440" marT="45720" marB="45720">
                    <a:lnL w="0">
                      <a:noFill/>
                    </a:lnL>
                    <a:lnR w="0">
                      <a:noFill/>
                    </a:lnR>
                    <a:lnB w="0">
                      <a:noFill/>
                    </a:lnB>
                    <a:solidFill>
                      <a:srgbClr val="F7F6F2"/>
                    </a:solidFill>
                  </a:tcPr>
                </a:tc>
                <a:tc>
                  <a:txBody>
                    <a:bodyPr/>
                    <a:lstStyle/>
                    <a:p>
                      <a:r>
                        <a:rPr sz="1650" b="0">
                          <a:solidFill>
                            <a:srgbClr val="102C32"/>
                          </a:solidFill>
                          <a:latin typeface="Arial"/>
                          <a:ea typeface="Arial"/>
                          <a:cs typeface="Arial"/>
                        </a:rPr>
                        <a:t>24 events and 25 valid audit records</a:t>
                      </a:r>
                    </a:p>
                  </a:txBody>
                  <a:tcPr marL="91440" marR="91440" marT="45720" marB="45720">
                    <a:lnR w="0">
                      <a:noFill/>
                    </a:lnR>
                    <a:lnB w="0">
                      <a:noFill/>
                    </a:lnB>
                    <a:solidFill>
                      <a:srgbClr val="F7F6F2"/>
                    </a:solidFill>
                  </a:tcPr>
                </a:tc>
              </a:tr>
            </a:tbl>
          </a:graphicData>
        </a:graphic>
      </p:graphicFrame>
      <p:sp>
        <p:nvSpPr>
          <p:cNvPr id="3" name="note">
            <a:extLst xmlns:a="http://schemas.openxmlformats.org/drawingml/2006/main">
              <a:ext uri="{FF2B5EF4-FFF2-40B4-BE49-F238E27FC236}">
                <a16:creationId xmlns:a16="http://schemas.microsoft.com/office/drawing/2014/main" id="{CEC2777C-E3FD-472E-82C9-B3CE84228CFF}"/>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Node 22.13+ and pnpm 11.25.0. Follow docs/HIRING_MANAGER_REVIEW.md for clone, pull and research reproduction.</a:t>
            </a:r>
          </a:p>
        </p:txBody>
      </p:sp>
      <p:sp>
        <p:nvSpPr>
          <p:cNvPr id="4" name="page">
            <a:extLst xmlns:a="http://schemas.openxmlformats.org/drawingml/2006/main">
              <a:ext uri="{FF2B5EF4-FFF2-40B4-BE49-F238E27FC236}">
                <a16:creationId xmlns:a16="http://schemas.microsoft.com/office/drawing/2014/main" id="{711E9B67-010E-4ADD-9C6F-2EDDBCD36B6B}"/>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15</a:t>
            </a:r>
          </a:p>
        </p:txBody>
      </p:sp>
    </p:spTree>
    <p:extLst>
      <p:ext uri="{BB962C8B-B14F-4D97-AF65-F5344CB8AC3E}">
        <p14:creationId xmlns:p14="http://schemas.microsoft.com/office/powerpoint/2010/main" val="285853705"/>
      </p:ext>
    </p:extLst>
  </p:cSld>
</p:sld>
</file>

<file path=ppt/slides/slide16.xml><?xml version="1.0" encoding="utf-8"?>
<p:sld xmlns:p="http://schemas.openxmlformats.org/presentationml/2006/main">
  <p:cSld>
    <p:bg>
      <p:bgPr>
        <a:solidFill xmlns:a="http://schemas.openxmlformats.org/drawingml/2006/main">
          <a:srgbClr val="F7F6F2">
            <a:alpha val="100000"/>
          </a:srgbClr>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FE39512C-2A58-4635-B65A-392297EB5DA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102C32"/>
                </a:solidFill>
                <a:latin typeface="Arial"/>
                <a:ea typeface="Arial"/>
                <a:cs typeface="Arial"/>
              </a:defRPr>
            </a:defPPr>
            <a:lvl1pPr algn="l">
              <a:defRPr sz="3300" b="1">
                <a:solidFill>
                  <a:srgbClr val="102C32"/>
                </a:solidFill>
                <a:latin typeface="Arial"/>
                <a:ea typeface="Arial"/>
                <a:cs typeface="Arial"/>
              </a:defRPr>
            </a:lvl1pPr>
            <a:lvl2pPr algn="l">
              <a:defRPr sz="3300" b="1">
                <a:solidFill>
                  <a:srgbClr val="102C32"/>
                </a:solidFill>
                <a:latin typeface="Arial"/>
                <a:ea typeface="Arial"/>
                <a:cs typeface="Arial"/>
              </a:defRPr>
            </a:lvl2pPr>
            <a:lvl3pPr algn="l">
              <a:defRPr sz="3300" b="1">
                <a:solidFill>
                  <a:srgbClr val="102C32"/>
                </a:solidFill>
                <a:latin typeface="Arial"/>
                <a:ea typeface="Arial"/>
                <a:cs typeface="Arial"/>
              </a:defRPr>
            </a:lvl3pPr>
            <a:lvl4pPr algn="l">
              <a:defRPr sz="3300" b="1">
                <a:solidFill>
                  <a:srgbClr val="102C32"/>
                </a:solidFill>
                <a:latin typeface="Arial"/>
                <a:ea typeface="Arial"/>
                <a:cs typeface="Arial"/>
              </a:defRPr>
            </a:lvl4pPr>
            <a:lvl5pPr algn="l">
              <a:defRPr sz="3300" b="1">
                <a:solidFill>
                  <a:srgbClr val="102C32"/>
                </a:solidFill>
                <a:latin typeface="Arial"/>
                <a:ea typeface="Arial"/>
                <a:cs typeface="Arial"/>
              </a:defRPr>
            </a:lvl5pPr>
            <a:lvl6pPr algn="l">
              <a:defRPr sz="3300" b="1">
                <a:solidFill>
                  <a:srgbClr val="102C32"/>
                </a:solidFill>
                <a:latin typeface="Arial"/>
                <a:ea typeface="Arial"/>
                <a:cs typeface="Arial"/>
              </a:defRPr>
            </a:lvl6pPr>
            <a:lvl7pPr algn="l">
              <a:defRPr sz="3300" b="1">
                <a:solidFill>
                  <a:srgbClr val="102C32"/>
                </a:solidFill>
                <a:latin typeface="Arial"/>
                <a:ea typeface="Arial"/>
                <a:cs typeface="Arial"/>
              </a:defRPr>
            </a:lvl7pPr>
            <a:lvl8pPr algn="l">
              <a:defRPr sz="3300" b="1">
                <a:solidFill>
                  <a:srgbClr val="102C32"/>
                </a:solidFill>
                <a:latin typeface="Arial"/>
                <a:ea typeface="Arial"/>
                <a:cs typeface="Arial"/>
              </a:defRPr>
            </a:lvl8pPr>
            <a:lvl9pPr algn="l">
              <a:defRPr sz="3300" b="1">
                <a:solidFill>
                  <a:srgbClr val="102C32"/>
                </a:solidFill>
                <a:latin typeface="Arial"/>
                <a:ea typeface="Arial"/>
                <a:cs typeface="Arial"/>
              </a:defRPr>
            </a:lvl9pPr>
          </a:lstStyle>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Appendix: sources and evidence</a:t>
            </a:r>
          </a:p>
        </p:txBody>
      </p:sp>
      <p:sp>
        <p:nvSpPr>
          <p:cNvPr id="2" name="reference-0">
            <a:extLst xmlns:a="http://schemas.openxmlformats.org/drawingml/2006/main">
              <a:ext uri="{FF2B5EF4-FFF2-40B4-BE49-F238E27FC236}">
                <a16:creationId xmlns:a16="http://schemas.microsoft.com/office/drawing/2014/main" id="{F4A56628-025D-415D-8723-337FE8AF7A44}"/>
              </a:ext>
            </a:extLst>
          </p:cNvPr>
          <p:cNvSpPr>
            <a:spLocks xmlns:a="http://schemas.openxmlformats.org/drawingml/2006/main" noGrp="1"/>
          </p:cNvSpPr>
          <p:nvPr/>
        </p:nvSpPr>
        <p:spPr>
          <a:xfrm xmlns:a="http://schemas.openxmlformats.org/drawingml/2006/main">
            <a:off x="723900" y="18097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Project metrics: reports/gnn/multi_seed_summary.json</a:t>
            </a:r>
          </a:p>
        </p:txBody>
      </p:sp>
      <p:sp>
        <p:nvSpPr>
          <p:cNvPr id="3" name="reference-1">
            <a:extLst xmlns:a="http://schemas.openxmlformats.org/drawingml/2006/main">
              <a:ext uri="{FF2B5EF4-FFF2-40B4-BE49-F238E27FC236}">
                <a16:creationId xmlns:a16="http://schemas.microsoft.com/office/drawing/2014/main" id="{ED3077C0-ECC8-41E4-B7B0-AC4D90F58133}"/>
              </a:ext>
            </a:extLst>
          </p:cNvPr>
          <p:cNvSpPr>
            <a:spLocks xmlns:a="http://schemas.openxmlformats.org/drawingml/2006/main" noGrp="1"/>
          </p:cNvSpPr>
          <p:nvPr/>
        </p:nvSpPr>
        <p:spPr>
          <a:xfrm xmlns:a="http://schemas.openxmlformats.org/drawingml/2006/main">
            <a:off x="723900" y="24384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Stress chart recovery: reports/recovery/structural_chart.json</a:t>
            </a:r>
          </a:p>
        </p:txBody>
      </p:sp>
      <p:sp>
        <p:nvSpPr>
          <p:cNvPr id="4" name="reference-2">
            <a:extLst xmlns:a="http://schemas.openxmlformats.org/drawingml/2006/main">
              <a:ext uri="{FF2B5EF4-FFF2-40B4-BE49-F238E27FC236}">
                <a16:creationId xmlns:a16="http://schemas.microsoft.com/office/drawing/2014/main" id="{A5432D56-9A4D-4466-BD1B-C65D3AB5D29C}"/>
              </a:ext>
            </a:extLst>
          </p:cNvPr>
          <p:cNvSpPr>
            <a:spLocks xmlns:a="http://schemas.openxmlformats.org/drawingml/2006/main" noGrp="1"/>
          </p:cNvSpPr>
          <p:nvPr/>
        </p:nvSpPr>
        <p:spPr>
          <a:xfrm xmlns:a="http://schemas.openxmlformats.org/drawingml/2006/main">
            <a:off x="723900" y="30670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Serving parity: applications/workbench/model-data/parity-report.json</a:t>
            </a:r>
          </a:p>
        </p:txBody>
      </p:sp>
      <p:sp>
        <p:nvSpPr>
          <p:cNvPr id="5" name="reference-3">
            <a:extLst xmlns:a="http://schemas.openxmlformats.org/drawingml/2006/main">
              <a:ext uri="{FF2B5EF4-FFF2-40B4-BE49-F238E27FC236}">
                <a16:creationId xmlns:a16="http://schemas.microsoft.com/office/drawing/2014/main" id="{F74B8740-3BFF-44DD-B377-2EA36CF41656}"/>
              </a:ext>
            </a:extLst>
          </p:cNvPr>
          <p:cNvSpPr>
            <a:spLocks xmlns:a="http://schemas.openxmlformats.org/drawingml/2006/main" noGrp="1"/>
          </p:cNvSpPr>
          <p:nvPr/>
        </p:nvSpPr>
        <p:spPr>
          <a:xfrm xmlns:a="http://schemas.openxmlformats.org/drawingml/2006/main">
            <a:off x="723900" y="36957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RGH-GNN, Hari et al., 2026 preprint: arxiv.org/abs/2610.27107</a:t>
            </a:r>
          </a:p>
        </p:txBody>
      </p:sp>
      <p:sp>
        <p:nvSpPr>
          <p:cNvPr id="6" name="reference-4">
            <a:extLst xmlns:a="http://schemas.openxmlformats.org/drawingml/2006/main">
              <a:ext uri="{FF2B5EF4-FFF2-40B4-BE49-F238E27FC236}">
                <a16:creationId xmlns:a16="http://schemas.microsoft.com/office/drawing/2014/main" id="{1F679CB9-C08C-4BA9-A748-AC6A1FBC9DB9}"/>
              </a:ext>
            </a:extLst>
          </p:cNvPr>
          <p:cNvSpPr>
            <a:spLocks xmlns:a="http://schemas.openxmlformats.org/drawingml/2006/main" noGrp="1"/>
          </p:cNvSpPr>
          <p:nvPr/>
        </p:nvSpPr>
        <p:spPr>
          <a:xfrm xmlns:a="http://schemas.openxmlformats.org/drawingml/2006/main">
            <a:off x="723900" y="43243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BRIGHT, Lu et al., CIKM 2022: arxiv.org/abs/2205.13084</a:t>
            </a:r>
          </a:p>
        </p:txBody>
      </p:sp>
      <p:sp>
        <p:nvSpPr>
          <p:cNvPr id="7" name="reference-5">
            <a:extLst xmlns:a="http://schemas.openxmlformats.org/drawingml/2006/main">
              <a:ext uri="{FF2B5EF4-FFF2-40B4-BE49-F238E27FC236}">
                <a16:creationId xmlns:a16="http://schemas.microsoft.com/office/drawing/2014/main" id="{9458AFB8-B4DC-46A9-B4AC-E25D9222F7FB}"/>
              </a:ext>
            </a:extLst>
          </p:cNvPr>
          <p:cNvSpPr>
            <a:spLocks xmlns:a="http://schemas.openxmlformats.org/drawingml/2006/main" noGrp="1"/>
          </p:cNvSpPr>
          <p:nvPr/>
        </p:nvSpPr>
        <p:spPr>
          <a:xfrm xmlns:a="http://schemas.openxmlformats.org/drawingml/2006/main">
            <a:off x="723900" y="49530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02C32"/>
                </a:solidFill>
                <a:latin typeface="Arial"/>
                <a:ea typeface="Arial"/>
                <a:cs typeface="Arial"/>
              </a:defRPr>
            </a:defPPr>
            <a:lvl1pPr algn="l">
              <a:defRPr sz="1875">
                <a:solidFill>
                  <a:srgbClr val="102C32"/>
                </a:solidFill>
                <a:latin typeface="Arial"/>
                <a:ea typeface="Arial"/>
                <a:cs typeface="Arial"/>
              </a:defRPr>
            </a:lvl1pPr>
            <a:lvl2pPr algn="l">
              <a:defRPr sz="1875">
                <a:solidFill>
                  <a:srgbClr val="102C32"/>
                </a:solidFill>
                <a:latin typeface="Arial"/>
                <a:ea typeface="Arial"/>
                <a:cs typeface="Arial"/>
              </a:defRPr>
            </a:lvl2pPr>
            <a:lvl3pPr algn="l">
              <a:defRPr sz="1875">
                <a:solidFill>
                  <a:srgbClr val="102C32"/>
                </a:solidFill>
                <a:latin typeface="Arial"/>
                <a:ea typeface="Arial"/>
                <a:cs typeface="Arial"/>
              </a:defRPr>
            </a:lvl3pPr>
            <a:lvl4pPr algn="l">
              <a:defRPr sz="1875">
                <a:solidFill>
                  <a:srgbClr val="102C32"/>
                </a:solidFill>
                <a:latin typeface="Arial"/>
                <a:ea typeface="Arial"/>
                <a:cs typeface="Arial"/>
              </a:defRPr>
            </a:lvl4pPr>
            <a:lvl5pPr algn="l">
              <a:defRPr sz="1875">
                <a:solidFill>
                  <a:srgbClr val="102C32"/>
                </a:solidFill>
                <a:latin typeface="Arial"/>
                <a:ea typeface="Arial"/>
                <a:cs typeface="Arial"/>
              </a:defRPr>
            </a:lvl5pPr>
            <a:lvl6pPr algn="l">
              <a:defRPr sz="1875">
                <a:solidFill>
                  <a:srgbClr val="102C32"/>
                </a:solidFill>
                <a:latin typeface="Arial"/>
                <a:ea typeface="Arial"/>
                <a:cs typeface="Arial"/>
              </a:defRPr>
            </a:lvl6pPr>
            <a:lvl7pPr algn="l">
              <a:defRPr sz="1875">
                <a:solidFill>
                  <a:srgbClr val="102C32"/>
                </a:solidFill>
                <a:latin typeface="Arial"/>
                <a:ea typeface="Arial"/>
                <a:cs typeface="Arial"/>
              </a:defRPr>
            </a:lvl7pPr>
            <a:lvl8pPr algn="l">
              <a:defRPr sz="1875">
                <a:solidFill>
                  <a:srgbClr val="102C32"/>
                </a:solidFill>
                <a:latin typeface="Arial"/>
                <a:ea typeface="Arial"/>
                <a:cs typeface="Arial"/>
              </a:defRPr>
            </a:lvl8pPr>
            <a:lvl9pPr algn="l">
              <a:defRPr sz="1875">
                <a:solidFill>
                  <a:srgbClr val="102C32"/>
                </a:solidFill>
                <a:latin typeface="Arial"/>
                <a:ea typeface="Arial"/>
                <a:cs typeface="Arial"/>
              </a:defRPr>
            </a:lvl9pPr>
          </a:lstStyle>
          <a:p xmlns:a="http://schemas.openxmlformats.org/drawingml/2006/main">
            <a:pPr algn="l">
              <a:defRPr sz="1875">
                <a:solidFill>
                  <a:srgbClr val="102C32"/>
                </a:solidFill>
                <a:latin typeface="Arial"/>
                <a:ea typeface="Arial"/>
                <a:cs typeface="Arial"/>
              </a:defRPr>
            </a:pPr>
            <a:r>
              <a:rPr sz="1875">
                <a:solidFill>
                  <a:srgbClr val="102C32"/>
                </a:solidFill>
                <a:latin typeface="Arial"/>
                <a:ea typeface="Arial"/>
                <a:cs typeface="Arial"/>
              </a:rPr>
              <a:t>Temporal Graph Networks, Rossi et al., 2020: arxiv.org/abs/2006.10637</a:t>
            </a:r>
          </a:p>
        </p:txBody>
      </p:sp>
      <p:sp>
        <p:nvSpPr>
          <p:cNvPr id="8" name="note">
            <a:extLst xmlns:a="http://schemas.openxmlformats.org/drawingml/2006/main">
              <a:ext uri="{FF2B5EF4-FFF2-40B4-BE49-F238E27FC236}">
                <a16:creationId xmlns:a16="http://schemas.microsoft.com/office/drawing/2014/main" id="{C6EEE66F-0935-4708-BDE6-AA3F1AA76670}"/>
              </a:ext>
            </a:extLst>
          </p:cNvPr>
          <p:cNvSpPr>
            <a:spLocks xmlns:a="http://schemas.openxmlformats.org/drawingml/2006/main" noGrp="1"/>
          </p:cNvSpPr>
          <p:nvPr/>
        </p:nvSpPr>
        <p:spPr>
          <a:xfrm xmlns:a="http://schemas.openxmlformats.org/drawingml/2006/main">
            <a:off x="723900" y="6076950"/>
            <a:ext cx="10429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a:solidFill>
                  <a:srgbClr val="486268"/>
                </a:solidFill>
                <a:latin typeface="Arial"/>
                <a:ea typeface="Arial"/>
                <a:cs typeface="Arial"/>
              </a:defRPr>
            </a:defPPr>
            <a:lvl1pPr algn="l">
              <a:defRPr sz="1425">
                <a:solidFill>
                  <a:srgbClr val="486268"/>
                </a:solidFill>
                <a:latin typeface="Arial"/>
                <a:ea typeface="Arial"/>
                <a:cs typeface="Arial"/>
              </a:defRPr>
            </a:lvl1pPr>
            <a:lvl2pPr algn="l">
              <a:defRPr sz="1425">
                <a:solidFill>
                  <a:srgbClr val="486268"/>
                </a:solidFill>
                <a:latin typeface="Arial"/>
                <a:ea typeface="Arial"/>
                <a:cs typeface="Arial"/>
              </a:defRPr>
            </a:lvl2pPr>
            <a:lvl3pPr algn="l">
              <a:defRPr sz="1425">
                <a:solidFill>
                  <a:srgbClr val="486268"/>
                </a:solidFill>
                <a:latin typeface="Arial"/>
                <a:ea typeface="Arial"/>
                <a:cs typeface="Arial"/>
              </a:defRPr>
            </a:lvl3pPr>
            <a:lvl4pPr algn="l">
              <a:defRPr sz="1425">
                <a:solidFill>
                  <a:srgbClr val="486268"/>
                </a:solidFill>
                <a:latin typeface="Arial"/>
                <a:ea typeface="Arial"/>
                <a:cs typeface="Arial"/>
              </a:defRPr>
            </a:lvl4pPr>
            <a:lvl5pPr algn="l">
              <a:defRPr sz="1425">
                <a:solidFill>
                  <a:srgbClr val="486268"/>
                </a:solidFill>
                <a:latin typeface="Arial"/>
                <a:ea typeface="Arial"/>
                <a:cs typeface="Arial"/>
              </a:defRPr>
            </a:lvl5pPr>
            <a:lvl6pPr algn="l">
              <a:defRPr sz="1425">
                <a:solidFill>
                  <a:srgbClr val="486268"/>
                </a:solidFill>
                <a:latin typeface="Arial"/>
                <a:ea typeface="Arial"/>
                <a:cs typeface="Arial"/>
              </a:defRPr>
            </a:lvl6pPr>
            <a:lvl7pPr algn="l">
              <a:defRPr sz="1425">
                <a:solidFill>
                  <a:srgbClr val="486268"/>
                </a:solidFill>
                <a:latin typeface="Arial"/>
                <a:ea typeface="Arial"/>
                <a:cs typeface="Arial"/>
              </a:defRPr>
            </a:lvl7pPr>
            <a:lvl8pPr algn="l">
              <a:defRPr sz="1425">
                <a:solidFill>
                  <a:srgbClr val="486268"/>
                </a:solidFill>
                <a:latin typeface="Arial"/>
                <a:ea typeface="Arial"/>
                <a:cs typeface="Arial"/>
              </a:defRPr>
            </a:lvl8pPr>
            <a:lvl9pPr algn="l">
              <a:defRPr sz="1425">
                <a:solidFill>
                  <a:srgbClr val="486268"/>
                </a:solidFill>
                <a:latin typeface="Arial"/>
                <a:ea typeface="Arial"/>
                <a:cs typeface="Arial"/>
              </a:defRPr>
            </a:lvl9pPr>
          </a:lstStyle>
          <a:p xmlns:a="http://schemas.openxmlformats.org/drawingml/2006/main">
            <a:pPr algn="l">
              <a:defRPr sz="1425">
                <a:solidFill>
                  <a:srgbClr val="486268"/>
                </a:solidFill>
                <a:latin typeface="Arial"/>
                <a:ea typeface="Arial"/>
                <a:cs typeface="Arial"/>
              </a:defRPr>
            </a:pPr>
            <a:r>
              <a:rPr sz="1425">
                <a:solidFill>
                  <a:srgbClr val="486268"/>
                </a:solidFill>
                <a:latin typeface="Arial"/>
                <a:ea typeface="Arial"/>
                <a:cs typeface="Arial"/>
              </a:rPr>
              <a:t>Project evidence supports synthetic findings only. Research sources inspire the design and do not validate this implementation.</a:t>
            </a:r>
          </a:p>
        </p:txBody>
      </p:sp>
      <p:sp>
        <p:nvSpPr>
          <p:cNvPr id="9" name="page">
            <a:extLst xmlns:a="http://schemas.openxmlformats.org/drawingml/2006/main">
              <a:ext uri="{FF2B5EF4-FFF2-40B4-BE49-F238E27FC236}">
                <a16:creationId xmlns:a16="http://schemas.microsoft.com/office/drawing/2014/main" id="{0E25F96B-EE29-4AA0-AA68-95E7A400320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a:solidFill>
                  <a:srgbClr val="486268"/>
                </a:solidFill>
                <a:latin typeface="Arial"/>
                <a:ea typeface="Arial"/>
                <a:cs typeface="Arial"/>
              </a:defRPr>
            </a:defPPr>
            <a:lvl1pPr algn="l">
              <a:defRPr sz="1275">
                <a:solidFill>
                  <a:srgbClr val="486268"/>
                </a:solidFill>
                <a:latin typeface="Arial"/>
                <a:ea typeface="Arial"/>
                <a:cs typeface="Arial"/>
              </a:defRPr>
            </a:lvl1pPr>
            <a:lvl2pPr algn="l">
              <a:defRPr sz="1275">
                <a:solidFill>
                  <a:srgbClr val="486268"/>
                </a:solidFill>
                <a:latin typeface="Arial"/>
                <a:ea typeface="Arial"/>
                <a:cs typeface="Arial"/>
              </a:defRPr>
            </a:lvl2pPr>
            <a:lvl3pPr algn="l">
              <a:defRPr sz="1275">
                <a:solidFill>
                  <a:srgbClr val="486268"/>
                </a:solidFill>
                <a:latin typeface="Arial"/>
                <a:ea typeface="Arial"/>
                <a:cs typeface="Arial"/>
              </a:defRPr>
            </a:lvl3pPr>
            <a:lvl4pPr algn="l">
              <a:defRPr sz="1275">
                <a:solidFill>
                  <a:srgbClr val="486268"/>
                </a:solidFill>
                <a:latin typeface="Arial"/>
                <a:ea typeface="Arial"/>
                <a:cs typeface="Arial"/>
              </a:defRPr>
            </a:lvl4pPr>
            <a:lvl5pPr algn="l">
              <a:defRPr sz="1275">
                <a:solidFill>
                  <a:srgbClr val="486268"/>
                </a:solidFill>
                <a:latin typeface="Arial"/>
                <a:ea typeface="Arial"/>
                <a:cs typeface="Arial"/>
              </a:defRPr>
            </a:lvl5pPr>
            <a:lvl6pPr algn="l">
              <a:defRPr sz="1275">
                <a:solidFill>
                  <a:srgbClr val="486268"/>
                </a:solidFill>
                <a:latin typeface="Arial"/>
                <a:ea typeface="Arial"/>
                <a:cs typeface="Arial"/>
              </a:defRPr>
            </a:lvl6pPr>
            <a:lvl7pPr algn="l">
              <a:defRPr sz="1275">
                <a:solidFill>
                  <a:srgbClr val="486268"/>
                </a:solidFill>
                <a:latin typeface="Arial"/>
                <a:ea typeface="Arial"/>
                <a:cs typeface="Arial"/>
              </a:defRPr>
            </a:lvl7pPr>
            <a:lvl8pPr algn="l">
              <a:defRPr sz="1275">
                <a:solidFill>
                  <a:srgbClr val="486268"/>
                </a:solidFill>
                <a:latin typeface="Arial"/>
                <a:ea typeface="Arial"/>
                <a:cs typeface="Arial"/>
              </a:defRPr>
            </a:lvl8pPr>
            <a:lvl9pPr algn="l">
              <a:defRPr sz="1275">
                <a:solidFill>
                  <a:srgbClr val="486268"/>
                </a:solidFill>
                <a:latin typeface="Arial"/>
                <a:ea typeface="Arial"/>
                <a:cs typeface="Arial"/>
              </a:defRPr>
            </a:lvl9pPr>
          </a:lstStyle>
          <a:p xmlns:a="http://schemas.openxmlformats.org/drawingml/2006/main">
            <a:pPr algn="l">
              <a:defRPr sz="1275">
                <a:solidFill>
                  <a:srgbClr val="486268"/>
                </a:solidFill>
                <a:latin typeface="Arial"/>
                <a:ea typeface="Arial"/>
                <a:cs typeface="Arial"/>
              </a:defRPr>
            </a:pPr>
            <a:r>
              <a:rPr sz="1275">
                <a:solidFill>
                  <a:srgbClr val="486268"/>
                </a:solidFill>
                <a:latin typeface="Arial"/>
                <a:ea typeface="Arial"/>
                <a:cs typeface="Arial"/>
              </a:rPr>
              <a:t>16</a:t>
            </a:r>
          </a:p>
        </p:txBody>
      </p:sp>
    </p:spTree>
    <p:extLst>
      <p:ext uri="{BB962C8B-B14F-4D97-AF65-F5344CB8AC3E}">
        <p14:creationId xmlns:p14="http://schemas.microsoft.com/office/powerpoint/2010/main" val="874666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2026-10-29T01:48:14.6940000Z</dcterms:created>
  <dcterms:modified xsi:type="dcterms:W3CDTF">2026-10-29T01:48:14.6940000Z</dcterms:modified>
</coreProperties>
</file>